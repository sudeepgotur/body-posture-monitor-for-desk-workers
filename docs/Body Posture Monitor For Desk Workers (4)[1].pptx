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15.jpeg" ContentType="image/jpeg"/>
  <Override PartName="/ppt/media/image14.jpeg" ContentType="image/jpeg"/>
  <Override PartName="/ppt/media/image5.png" ContentType="image/png"/>
  <Override PartName="/ppt/media/image6.png" ContentType="image/png"/>
  <Override PartName="/ppt/media/image1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3.png" ContentType="image/png"/>
  <Override PartName="/ppt/media/image12.png" ContentType="image/png"/>
  <Override PartName="/ppt/media/image9.png" ContentType="image/png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CBBB000-9062-4DFF-8497-BFB3A4F8B7B0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0499E8-D544-4BC0-AF5A-C64CF4BDFEB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ftr" idx="56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3D Model Scanner Using Laser Sensor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ftr" idx="57"/>
          </p:nvPr>
        </p:nvSpPr>
        <p:spPr>
          <a:xfrm>
            <a:off x="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3D Model Scanner Using Laser Sensor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84B98F-4049-4333-85BB-2978059BF604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1AD792-2FC6-4B16-9179-873F17FFFA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607D34-A0EA-4029-BB7E-533B5C3EF3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F471205-A925-44CC-990B-3AB9DF70B0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0A1D7CB-D373-4275-9986-01F436BB96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DC32C8A-7BFF-425C-965D-4D497E8A4D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36691B5-181B-43DC-91A2-5DA81A5A31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3DDEE57-878F-4805-811A-F8A9381A48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2030F77-26D0-4834-804E-398F74B700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8EA8AB3-9497-436E-A332-C55C6E9C3F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7721874-EE95-4712-8181-06DDD4CE27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1E1C8DF-58E9-47A7-8E18-09E00F0902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edit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Master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CD547D-946A-4985-AF5B-10EE342EF9F0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DBEB83-F9B6-4B26-9D09-1953CFD36633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06675C-C3CB-4ACF-9A86-7B8DAD21A76E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9CB59E-66FA-4324-8D31-FDDAEF62F001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F97630-B803-48F7-87A7-462627145607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F81319-464D-4E68-97AA-437FE2321EA1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97135E-5EF5-4FD2-9CE3-BB851D920B4C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6C812B-D2B2-42B5-8D4B-9F61C1E1A586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D437A9-C579-425C-BD67-662FA23EE6FF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C38A87-9069-4DC6-8FA1-9A35B79DEE7E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620D83-97C4-427A-950C-24FEAA4A0009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hyperlink" Target="http://www.klsvdit.edu.in/" TargetMode="External"/><Relationship Id="rId11" Type="http://schemas.openxmlformats.org/officeDocument/2006/relationships/hyperlink" Target="http://www.klsvdit.edu.in/" TargetMode="External"/><Relationship Id="rId12" Type="http://schemas.openxmlformats.org/officeDocument/2006/relationships/hyperlink" Target="http://www.klsvdit.edu.in/" TargetMode="External"/><Relationship Id="rId13" Type="http://schemas.openxmlformats.org/officeDocument/2006/relationships/hyperlink" Target="http://www.klsvdit.edu.in/" TargetMode="External"/><Relationship Id="rId14" Type="http://schemas.openxmlformats.org/officeDocument/2006/relationships/hyperlink" Target="http://www.klsvdit.edu.in/" TargetMode="External"/><Relationship Id="rId15" Type="http://schemas.openxmlformats.org/officeDocument/2006/relationships/hyperlink" Target="http://www.klsvdit.edu.in/" TargetMode="External"/><Relationship Id="rId16" Type="http://schemas.openxmlformats.org/officeDocument/2006/relationships/hyperlink" Target="http://www.klsvdit.edu.in/" TargetMode="External"/><Relationship Id="rId17" Type="http://schemas.openxmlformats.org/officeDocument/2006/relationships/hyperlink" Target="http://www.klsvdit.edu.in/" TargetMode="External"/><Relationship Id="rId18" Type="http://schemas.openxmlformats.org/officeDocument/2006/relationships/hyperlink" Target="http://www.klsvdit.edu.in/" TargetMode="External"/><Relationship Id="rId19" Type="http://schemas.openxmlformats.org/officeDocument/2006/relationships/hyperlink" Target="http://www.klsvdit.edu.in/" TargetMode="External"/><Relationship Id="rId20" Type="http://schemas.openxmlformats.org/officeDocument/2006/relationships/hyperlink" Target="http://www.klsvdit.edu.in/" TargetMode="External"/><Relationship Id="rId21" Type="http://schemas.openxmlformats.org/officeDocument/2006/relationships/hyperlink" Target="http://www.klsvdit.edu.in/" TargetMode="External"/><Relationship Id="rId22" Type="http://schemas.openxmlformats.org/officeDocument/2006/relationships/hyperlink" Target="http://www.klsvdit.edu.in/" TargetMode="External"/><Relationship Id="rId23" Type="http://schemas.openxmlformats.org/officeDocument/2006/relationships/hyperlink" Target="http://www.klsvdit.edu.in/" TargetMode="External"/><Relationship Id="rId24" Type="http://schemas.openxmlformats.org/officeDocument/2006/relationships/hyperlink" Target="http://www.klsvdit.edu.in/" TargetMode="External"/><Relationship Id="rId25" Type="http://schemas.openxmlformats.org/officeDocument/2006/relationships/hyperlink" Target="http://www.klsvdit.edu.in/" TargetMode="External"/><Relationship Id="rId26" Type="http://schemas.openxmlformats.org/officeDocument/2006/relationships/hyperlink" Target="http://www.klsvdit.edu.in/" TargetMode="External"/><Relationship Id="rId27" Type="http://schemas.openxmlformats.org/officeDocument/2006/relationships/hyperlink" Target="http://www.klsvdit.edu.in/" TargetMode="External"/><Relationship Id="rId28" Type="http://schemas.openxmlformats.org/officeDocument/2006/relationships/hyperlink" Target="http://www.klsvdit.edu.in/" TargetMode="External"/><Relationship Id="rId29" Type="http://schemas.openxmlformats.org/officeDocument/2006/relationships/hyperlink" Target="http://www.klsvdit.edu.in/" TargetMode="External"/><Relationship Id="rId30" Type="http://schemas.openxmlformats.org/officeDocument/2006/relationships/hyperlink" Target="http://www.klsvdit.edu.in/" TargetMode="External"/><Relationship Id="rId31" Type="http://schemas.openxmlformats.org/officeDocument/2006/relationships/hyperlink" Target="http://www.klsvdit.edu.in/" TargetMode="External"/><Relationship Id="rId32" Type="http://schemas.openxmlformats.org/officeDocument/2006/relationships/hyperlink" Target="http://www.klsvdit.edu.in/" TargetMode="External"/><Relationship Id="rId33" Type="http://schemas.openxmlformats.org/officeDocument/2006/relationships/hyperlink" Target="http://www.klsvdit.edu.in/" TargetMode="External"/><Relationship Id="rId34" Type="http://schemas.openxmlformats.org/officeDocument/2006/relationships/hyperlink" Target="http://www.klsvdit.edu.in/" TargetMode="External"/><Relationship Id="rId35" Type="http://schemas.openxmlformats.org/officeDocument/2006/relationships/hyperlink" Target="http://www.klsvdit.edu.in/" TargetMode="External"/><Relationship Id="rId36" Type="http://schemas.openxmlformats.org/officeDocument/2006/relationships/hyperlink" Target="http://www.klsvdit.edu.in/" TargetMode="External"/><Relationship Id="rId37" Type="http://schemas.openxmlformats.org/officeDocument/2006/relationships/hyperlink" Target="http://www.klsvdit.edu.in/" TargetMode="External"/><Relationship Id="rId38" Type="http://schemas.openxmlformats.org/officeDocument/2006/relationships/hyperlink" Target="http://www.klsvdit.edu.in/" TargetMode="External"/><Relationship Id="rId39" Type="http://schemas.openxmlformats.org/officeDocument/2006/relationships/hyperlink" Target="http://www.klsvdit.edu.in/" TargetMode="External"/><Relationship Id="rId40" Type="http://schemas.openxmlformats.org/officeDocument/2006/relationships/hyperlink" Target="http://www.klsvdit.edu.in/" TargetMode="External"/><Relationship Id="rId4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image" Target="../media/image14.jpeg"/><Relationship Id="rId4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2"/>
          <p:cNvGrpSpPr/>
          <p:nvPr/>
        </p:nvGrpSpPr>
        <p:grpSpPr>
          <a:xfrm>
            <a:off x="-3960" y="0"/>
            <a:ext cx="12195720" cy="6888960"/>
            <a:chOff x="-3960" y="0"/>
            <a:chExt cx="12195720" cy="6888960"/>
          </a:xfrm>
        </p:grpSpPr>
        <p:pic>
          <p:nvPicPr>
            <p:cNvPr id="74" name="Picture 3" descr=""/>
            <p:cNvPicPr/>
            <p:nvPr/>
          </p:nvPicPr>
          <p:blipFill>
            <a:blip r:embed="rId1"/>
            <a:stretch/>
          </p:blipFill>
          <p:spPr>
            <a:xfrm>
              <a:off x="-3960" y="4239000"/>
              <a:ext cx="12195360" cy="2649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75" name="Picture 4" descr=""/>
            <p:cNvPicPr/>
            <p:nvPr/>
          </p:nvPicPr>
          <p:blipFill>
            <a:blip r:embed="rId2"/>
            <a:stretch/>
          </p:blipFill>
          <p:spPr>
            <a:xfrm>
              <a:off x="-3960" y="0"/>
              <a:ext cx="12195360" cy="4155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6" name="Line 5"/>
            <p:cNvSpPr/>
            <p:nvPr/>
          </p:nvSpPr>
          <p:spPr>
            <a:xfrm>
              <a:off x="-3600" y="4155480"/>
              <a:ext cx="12195360" cy="360"/>
            </a:xfrm>
            <a:prstGeom prst="line">
              <a:avLst/>
            </a:prstGeom>
            <a:ln w="25400">
              <a:solidFill>
                <a:srgbClr val="385d8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0" bIns="0" anchor="t">
              <a:noAutofit/>
            </a:bodyPr>
            <a:p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77" name="Freeform 6"/>
            <p:cNvSpPr/>
            <p:nvPr/>
          </p:nvSpPr>
          <p:spPr>
            <a:xfrm>
              <a:off x="-3960" y="2524320"/>
              <a:ext cx="12195360" cy="4364280"/>
            </a:xfrm>
            <a:custGeom>
              <a:avLst/>
              <a:gdLst>
                <a:gd name="textAreaLeft" fmla="*/ 0 w 12195360"/>
                <a:gd name="textAreaRight" fmla="*/ 12195720 w 12195360"/>
                <a:gd name="textAreaTop" fmla="*/ 0 h 4364280"/>
                <a:gd name="textAreaBottom" fmla="*/ 4364640 h 4364280"/>
              </a:gdLst>
              <a:ahLst/>
              <a:rect l="textAreaLeft" t="textAreaTop" r="textAreaRight" b="textAreaBottom"/>
              <a:pathLst>
                <a:path w="14400" h="5132">
                  <a:moveTo>
                    <a:pt x="14400" y="1804"/>
                  </a:moveTo>
                  <a:lnTo>
                    <a:pt x="2202" y="0"/>
                  </a:lnTo>
                  <a:lnTo>
                    <a:pt x="2148" y="365"/>
                  </a:lnTo>
                  <a:lnTo>
                    <a:pt x="2113" y="365"/>
                  </a:lnTo>
                  <a:lnTo>
                    <a:pt x="2037" y="366"/>
                  </a:lnTo>
                  <a:lnTo>
                    <a:pt x="1962" y="369"/>
                  </a:lnTo>
                  <a:lnTo>
                    <a:pt x="1888" y="375"/>
                  </a:lnTo>
                  <a:lnTo>
                    <a:pt x="1815" y="383"/>
                  </a:lnTo>
                  <a:lnTo>
                    <a:pt x="1742" y="393"/>
                  </a:lnTo>
                  <a:lnTo>
                    <a:pt x="1669" y="405"/>
                  </a:lnTo>
                  <a:lnTo>
                    <a:pt x="1598" y="419"/>
                  </a:lnTo>
                  <a:lnTo>
                    <a:pt x="1527" y="435"/>
                  </a:lnTo>
                  <a:lnTo>
                    <a:pt x="1457" y="454"/>
                  </a:lnTo>
                  <a:lnTo>
                    <a:pt x="1388" y="474"/>
                  </a:lnTo>
                  <a:lnTo>
                    <a:pt x="1319" y="496"/>
                  </a:lnTo>
                  <a:lnTo>
                    <a:pt x="1252" y="521"/>
                  </a:lnTo>
                  <a:lnTo>
                    <a:pt x="1185" y="547"/>
                  </a:lnTo>
                  <a:lnTo>
                    <a:pt x="1119" y="575"/>
                  </a:lnTo>
                  <a:lnTo>
                    <a:pt x="1054" y="605"/>
                  </a:lnTo>
                  <a:lnTo>
                    <a:pt x="991" y="637"/>
                  </a:lnTo>
                  <a:lnTo>
                    <a:pt x="928" y="670"/>
                  </a:lnTo>
                  <a:lnTo>
                    <a:pt x="866" y="706"/>
                  </a:lnTo>
                  <a:lnTo>
                    <a:pt x="805" y="743"/>
                  </a:lnTo>
                  <a:lnTo>
                    <a:pt x="746" y="781"/>
                  </a:lnTo>
                  <a:lnTo>
                    <a:pt x="687" y="822"/>
                  </a:lnTo>
                  <a:lnTo>
                    <a:pt x="630" y="864"/>
                  </a:lnTo>
                  <a:lnTo>
                    <a:pt x="574" y="907"/>
                  </a:lnTo>
                  <a:lnTo>
                    <a:pt x="519" y="952"/>
                  </a:lnTo>
                  <a:lnTo>
                    <a:pt x="466" y="999"/>
                  </a:lnTo>
                  <a:lnTo>
                    <a:pt x="414" y="1047"/>
                  </a:lnTo>
                  <a:lnTo>
                    <a:pt x="363" y="1097"/>
                  </a:lnTo>
                  <a:lnTo>
                    <a:pt x="313" y="1148"/>
                  </a:lnTo>
                  <a:lnTo>
                    <a:pt x="265" y="1200"/>
                  </a:lnTo>
                  <a:lnTo>
                    <a:pt x="218" y="1254"/>
                  </a:lnTo>
                  <a:lnTo>
                    <a:pt x="173" y="1309"/>
                  </a:lnTo>
                  <a:lnTo>
                    <a:pt x="129" y="1366"/>
                  </a:lnTo>
                  <a:lnTo>
                    <a:pt x="87" y="1423"/>
                  </a:lnTo>
                  <a:lnTo>
                    <a:pt x="46" y="1482"/>
                  </a:lnTo>
                  <a:lnTo>
                    <a:pt x="7" y="1543"/>
                  </a:lnTo>
                  <a:lnTo>
                    <a:pt x="0" y="1554"/>
                  </a:lnTo>
                  <a:lnTo>
                    <a:pt x="0" y="4348"/>
                  </a:lnTo>
                  <a:lnTo>
                    <a:pt x="46" y="4419"/>
                  </a:lnTo>
                  <a:lnTo>
                    <a:pt x="87" y="4478"/>
                  </a:lnTo>
                  <a:lnTo>
                    <a:pt x="129" y="4536"/>
                  </a:lnTo>
                  <a:lnTo>
                    <a:pt x="173" y="4592"/>
                  </a:lnTo>
                  <a:lnTo>
                    <a:pt x="218" y="4648"/>
                  </a:lnTo>
                  <a:lnTo>
                    <a:pt x="265" y="4701"/>
                  </a:lnTo>
                  <a:lnTo>
                    <a:pt x="313" y="4754"/>
                  </a:lnTo>
                  <a:lnTo>
                    <a:pt x="363" y="4805"/>
                  </a:lnTo>
                  <a:lnTo>
                    <a:pt x="414" y="4855"/>
                  </a:lnTo>
                  <a:lnTo>
                    <a:pt x="466" y="4903"/>
                  </a:lnTo>
                  <a:lnTo>
                    <a:pt x="519" y="4949"/>
                  </a:lnTo>
                  <a:lnTo>
                    <a:pt x="574" y="4994"/>
                  </a:lnTo>
                  <a:lnTo>
                    <a:pt x="630" y="5038"/>
                  </a:lnTo>
                  <a:lnTo>
                    <a:pt x="687" y="5080"/>
                  </a:lnTo>
                  <a:lnTo>
                    <a:pt x="746" y="5120"/>
                  </a:lnTo>
                  <a:lnTo>
                    <a:pt x="764" y="5132"/>
                  </a:lnTo>
                  <a:lnTo>
                    <a:pt x="1443" y="5132"/>
                  </a:lnTo>
                  <a:lnTo>
                    <a:pt x="3461" y="5132"/>
                  </a:lnTo>
                  <a:lnTo>
                    <a:pt x="14400" y="5132"/>
                  </a:lnTo>
                  <a:lnTo>
                    <a:pt x="14400" y="1804"/>
                  </a:lnTo>
                  <a:close/>
                </a:path>
              </a:pathLst>
            </a:custGeom>
            <a:solidFill>
              <a:srgbClr val="20586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78" name="Picture 7" descr=""/>
            <p:cNvPicPr/>
            <p:nvPr/>
          </p:nvPicPr>
          <p:blipFill>
            <a:blip r:embed="rId3"/>
            <a:stretch/>
          </p:blipFill>
          <p:spPr>
            <a:xfrm>
              <a:off x="1312920" y="2758320"/>
              <a:ext cx="10878480" cy="4130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9" name="AutoShape 8"/>
            <p:cNvSpPr/>
            <p:nvPr/>
          </p:nvSpPr>
          <p:spPr>
            <a:xfrm>
              <a:off x="1312920" y="2758320"/>
              <a:ext cx="10878480" cy="4130640"/>
            </a:xfrm>
            <a:custGeom>
              <a:avLst/>
              <a:gdLst>
                <a:gd name="textAreaLeft" fmla="*/ 0 w 10878480"/>
                <a:gd name="textAreaRight" fmla="*/ 10878840 w 10878480"/>
                <a:gd name="textAreaTop" fmla="*/ 0 h 4130640"/>
                <a:gd name="textAreaBottom" fmla="*/ 4131000 h 4130640"/>
              </a:gdLst>
              <a:ahLst/>
              <a:rect l="textAreaLeft" t="textAreaTop" r="textAreaRight" b="textAreaBottom"/>
              <a:pathLst>
                <a:path w="12845" h="4857">
                  <a:moveTo>
                    <a:pt x="560" y="0"/>
                  </a:moveTo>
                  <a:lnTo>
                    <a:pt x="12845" y="1417"/>
                  </a:lnTo>
                  <a:moveTo>
                    <a:pt x="0" y="4856"/>
                  </a:moveTo>
                  <a:lnTo>
                    <a:pt x="560" y="0"/>
                  </a:lnTo>
                </a:path>
              </a:pathLst>
            </a:custGeom>
            <a:noFill/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80" name="Picture 9" descr=""/>
            <p:cNvPicPr/>
            <p:nvPr/>
          </p:nvPicPr>
          <p:blipFill>
            <a:blip r:embed="rId4"/>
            <a:stretch/>
          </p:blipFill>
          <p:spPr>
            <a:xfrm>
              <a:off x="-3960" y="2991240"/>
              <a:ext cx="3921840" cy="3897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1" name="Picture 10" descr=""/>
            <p:cNvPicPr/>
            <p:nvPr/>
          </p:nvPicPr>
          <p:blipFill>
            <a:blip r:embed="rId5"/>
            <a:stretch/>
          </p:blipFill>
          <p:spPr>
            <a:xfrm>
              <a:off x="292680" y="3294000"/>
              <a:ext cx="2752200" cy="1407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2" name="Picture 11" descr=""/>
            <p:cNvPicPr/>
            <p:nvPr/>
          </p:nvPicPr>
          <p:blipFill>
            <a:blip r:embed="rId6"/>
            <a:stretch/>
          </p:blipFill>
          <p:spPr>
            <a:xfrm>
              <a:off x="-3960" y="6282720"/>
              <a:ext cx="5239800" cy="605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3" name="Line 12"/>
            <p:cNvSpPr/>
            <p:nvPr/>
          </p:nvSpPr>
          <p:spPr>
            <a:xfrm>
              <a:off x="4320" y="6282360"/>
              <a:ext cx="5231520" cy="606600"/>
            </a:xfrm>
            <a:prstGeom prst="line">
              <a:avLst/>
            </a:prstGeom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360" bIns="360" anchor="t">
              <a:noAutofit/>
            </a:bodyPr>
            <a:p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4" name="Line 13"/>
            <p:cNvSpPr/>
            <p:nvPr/>
          </p:nvSpPr>
          <p:spPr>
            <a:xfrm>
              <a:off x="0" y="6265440"/>
              <a:ext cx="360" cy="105480"/>
            </a:xfrm>
            <a:prstGeom prst="line">
              <a:avLst/>
            </a:prstGeom>
            <a:ln w="31512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0" bIns="0" anchor="t">
              <a:noAutofit/>
            </a:bodyPr>
            <a:p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85" name="Picture 14" descr=""/>
            <p:cNvPicPr/>
            <p:nvPr/>
          </p:nvPicPr>
          <p:blipFill>
            <a:blip r:embed="rId7"/>
            <a:stretch/>
          </p:blipFill>
          <p:spPr>
            <a:xfrm>
              <a:off x="354240" y="5011920"/>
              <a:ext cx="1780920" cy="1027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6" name="Picture 15" descr=""/>
            <p:cNvPicPr/>
            <p:nvPr/>
          </p:nvPicPr>
          <p:blipFill>
            <a:blip r:embed="rId8"/>
            <a:stretch/>
          </p:blipFill>
          <p:spPr>
            <a:xfrm>
              <a:off x="3400920" y="3649320"/>
              <a:ext cx="8790840" cy="781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7" name="Freeform 16"/>
            <p:cNvSpPr/>
            <p:nvPr/>
          </p:nvSpPr>
          <p:spPr>
            <a:xfrm>
              <a:off x="1100520" y="5179680"/>
              <a:ext cx="1163160" cy="1163880"/>
            </a:xfrm>
            <a:custGeom>
              <a:avLst/>
              <a:gdLst>
                <a:gd name="textAreaLeft" fmla="*/ 0 w 1163160"/>
                <a:gd name="textAreaRight" fmla="*/ 1163520 w 1163160"/>
                <a:gd name="textAreaTop" fmla="*/ 0 h 1163880"/>
                <a:gd name="textAreaBottom" fmla="*/ 1164240 h 1163880"/>
              </a:gdLst>
              <a:ahLst/>
              <a:rect l="textAreaLeft" t="textAreaTop" r="textAreaRight" b="textAreaBottom"/>
              <a:pathLst>
                <a:path w="1374" h="1369">
                  <a:moveTo>
                    <a:pt x="687" y="0"/>
                  </a:moveTo>
                  <a:lnTo>
                    <a:pt x="612" y="4"/>
                  </a:lnTo>
                  <a:lnTo>
                    <a:pt x="539" y="16"/>
                  </a:lnTo>
                  <a:lnTo>
                    <a:pt x="470" y="35"/>
                  </a:lnTo>
                  <a:lnTo>
                    <a:pt x="403" y="61"/>
                  </a:lnTo>
                  <a:lnTo>
                    <a:pt x="340" y="93"/>
                  </a:lnTo>
                  <a:lnTo>
                    <a:pt x="281" y="132"/>
                  </a:lnTo>
                  <a:lnTo>
                    <a:pt x="227" y="176"/>
                  </a:lnTo>
                  <a:lnTo>
                    <a:pt x="177" y="226"/>
                  </a:lnTo>
                  <a:lnTo>
                    <a:pt x="132" y="280"/>
                  </a:lnTo>
                  <a:lnTo>
                    <a:pt x="94" y="339"/>
                  </a:lnTo>
                  <a:lnTo>
                    <a:pt x="61" y="402"/>
                  </a:lnTo>
                  <a:lnTo>
                    <a:pt x="35" y="468"/>
                  </a:lnTo>
                  <a:lnTo>
                    <a:pt x="16" y="538"/>
                  </a:lnTo>
                  <a:lnTo>
                    <a:pt x="4" y="610"/>
                  </a:lnTo>
                  <a:lnTo>
                    <a:pt x="0" y="684"/>
                  </a:lnTo>
                  <a:lnTo>
                    <a:pt x="4" y="759"/>
                  </a:lnTo>
                  <a:lnTo>
                    <a:pt x="16" y="831"/>
                  </a:lnTo>
                  <a:lnTo>
                    <a:pt x="35" y="901"/>
                  </a:lnTo>
                  <a:lnTo>
                    <a:pt x="61" y="967"/>
                  </a:lnTo>
                  <a:lnTo>
                    <a:pt x="94" y="1030"/>
                  </a:lnTo>
                  <a:lnTo>
                    <a:pt x="132" y="1089"/>
                  </a:lnTo>
                  <a:lnTo>
                    <a:pt x="177" y="1143"/>
                  </a:lnTo>
                  <a:lnTo>
                    <a:pt x="227" y="1192"/>
                  </a:lnTo>
                  <a:lnTo>
                    <a:pt x="281" y="1237"/>
                  </a:lnTo>
                  <a:lnTo>
                    <a:pt x="340" y="1275"/>
                  </a:lnTo>
                  <a:lnTo>
                    <a:pt x="403" y="1308"/>
                  </a:lnTo>
                  <a:lnTo>
                    <a:pt x="470" y="1334"/>
                  </a:lnTo>
                  <a:lnTo>
                    <a:pt x="539" y="1353"/>
                  </a:lnTo>
                  <a:lnTo>
                    <a:pt x="612" y="1365"/>
                  </a:lnTo>
                  <a:lnTo>
                    <a:pt x="687" y="1369"/>
                  </a:lnTo>
                  <a:lnTo>
                    <a:pt x="762" y="1365"/>
                  </a:lnTo>
                  <a:lnTo>
                    <a:pt x="834" y="1353"/>
                  </a:lnTo>
                  <a:lnTo>
                    <a:pt x="904" y="1334"/>
                  </a:lnTo>
                  <a:lnTo>
                    <a:pt x="970" y="1308"/>
                  </a:lnTo>
                  <a:lnTo>
                    <a:pt x="1033" y="1275"/>
                  </a:lnTo>
                  <a:lnTo>
                    <a:pt x="1092" y="1237"/>
                  </a:lnTo>
                  <a:lnTo>
                    <a:pt x="1147" y="1192"/>
                  </a:lnTo>
                  <a:lnTo>
                    <a:pt x="1197" y="1143"/>
                  </a:lnTo>
                  <a:lnTo>
                    <a:pt x="1241" y="1089"/>
                  </a:lnTo>
                  <a:lnTo>
                    <a:pt x="1280" y="1030"/>
                  </a:lnTo>
                  <a:lnTo>
                    <a:pt x="1312" y="967"/>
                  </a:lnTo>
                  <a:lnTo>
                    <a:pt x="1339" y="901"/>
                  </a:lnTo>
                  <a:lnTo>
                    <a:pt x="1358" y="831"/>
                  </a:lnTo>
                  <a:lnTo>
                    <a:pt x="1370" y="759"/>
                  </a:lnTo>
                  <a:lnTo>
                    <a:pt x="1374" y="684"/>
                  </a:lnTo>
                  <a:lnTo>
                    <a:pt x="1370" y="610"/>
                  </a:lnTo>
                  <a:lnTo>
                    <a:pt x="1358" y="538"/>
                  </a:lnTo>
                  <a:lnTo>
                    <a:pt x="1339" y="468"/>
                  </a:lnTo>
                  <a:lnTo>
                    <a:pt x="1312" y="402"/>
                  </a:lnTo>
                  <a:lnTo>
                    <a:pt x="1280" y="339"/>
                  </a:lnTo>
                  <a:lnTo>
                    <a:pt x="1241" y="280"/>
                  </a:lnTo>
                  <a:lnTo>
                    <a:pt x="1197" y="226"/>
                  </a:lnTo>
                  <a:lnTo>
                    <a:pt x="1147" y="176"/>
                  </a:lnTo>
                  <a:lnTo>
                    <a:pt x="1092" y="132"/>
                  </a:lnTo>
                  <a:lnTo>
                    <a:pt x="1033" y="93"/>
                  </a:lnTo>
                  <a:lnTo>
                    <a:pt x="970" y="61"/>
                  </a:lnTo>
                  <a:lnTo>
                    <a:pt x="904" y="35"/>
                  </a:lnTo>
                  <a:lnTo>
                    <a:pt x="834" y="16"/>
                  </a:lnTo>
                  <a:lnTo>
                    <a:pt x="762" y="4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" name="Freeform 17"/>
            <p:cNvSpPr/>
            <p:nvPr/>
          </p:nvSpPr>
          <p:spPr>
            <a:xfrm>
              <a:off x="1100520" y="5179680"/>
              <a:ext cx="1163160" cy="1163880"/>
            </a:xfrm>
            <a:custGeom>
              <a:avLst/>
              <a:gdLst>
                <a:gd name="textAreaLeft" fmla="*/ 0 w 1163160"/>
                <a:gd name="textAreaRight" fmla="*/ 1163520 w 1163160"/>
                <a:gd name="textAreaTop" fmla="*/ 0 h 1163880"/>
                <a:gd name="textAreaBottom" fmla="*/ 1164240 h 1163880"/>
              </a:gdLst>
              <a:ahLst/>
              <a:rect l="textAreaLeft" t="textAreaTop" r="textAreaRight" b="textAreaBottom"/>
              <a:pathLst>
                <a:path w="1374" h="1369">
                  <a:moveTo>
                    <a:pt x="0" y="684"/>
                  </a:moveTo>
                  <a:lnTo>
                    <a:pt x="4" y="610"/>
                  </a:lnTo>
                  <a:lnTo>
                    <a:pt x="16" y="538"/>
                  </a:lnTo>
                  <a:lnTo>
                    <a:pt x="35" y="468"/>
                  </a:lnTo>
                  <a:lnTo>
                    <a:pt x="61" y="402"/>
                  </a:lnTo>
                  <a:lnTo>
                    <a:pt x="94" y="339"/>
                  </a:lnTo>
                  <a:lnTo>
                    <a:pt x="132" y="280"/>
                  </a:lnTo>
                  <a:lnTo>
                    <a:pt x="177" y="226"/>
                  </a:lnTo>
                  <a:lnTo>
                    <a:pt x="227" y="176"/>
                  </a:lnTo>
                  <a:lnTo>
                    <a:pt x="281" y="132"/>
                  </a:lnTo>
                  <a:lnTo>
                    <a:pt x="340" y="93"/>
                  </a:lnTo>
                  <a:lnTo>
                    <a:pt x="403" y="61"/>
                  </a:lnTo>
                  <a:lnTo>
                    <a:pt x="470" y="35"/>
                  </a:lnTo>
                  <a:lnTo>
                    <a:pt x="539" y="16"/>
                  </a:lnTo>
                  <a:lnTo>
                    <a:pt x="612" y="4"/>
                  </a:lnTo>
                  <a:lnTo>
                    <a:pt x="687" y="0"/>
                  </a:lnTo>
                  <a:lnTo>
                    <a:pt x="762" y="4"/>
                  </a:lnTo>
                  <a:lnTo>
                    <a:pt x="834" y="16"/>
                  </a:lnTo>
                  <a:lnTo>
                    <a:pt x="904" y="35"/>
                  </a:lnTo>
                  <a:lnTo>
                    <a:pt x="970" y="61"/>
                  </a:lnTo>
                  <a:lnTo>
                    <a:pt x="1033" y="93"/>
                  </a:lnTo>
                  <a:lnTo>
                    <a:pt x="1092" y="132"/>
                  </a:lnTo>
                  <a:lnTo>
                    <a:pt x="1147" y="176"/>
                  </a:lnTo>
                  <a:lnTo>
                    <a:pt x="1197" y="226"/>
                  </a:lnTo>
                  <a:lnTo>
                    <a:pt x="1241" y="280"/>
                  </a:lnTo>
                  <a:lnTo>
                    <a:pt x="1280" y="339"/>
                  </a:lnTo>
                  <a:lnTo>
                    <a:pt x="1312" y="402"/>
                  </a:lnTo>
                  <a:lnTo>
                    <a:pt x="1339" y="468"/>
                  </a:lnTo>
                  <a:lnTo>
                    <a:pt x="1358" y="538"/>
                  </a:lnTo>
                  <a:lnTo>
                    <a:pt x="1370" y="610"/>
                  </a:lnTo>
                  <a:lnTo>
                    <a:pt x="1374" y="684"/>
                  </a:lnTo>
                  <a:lnTo>
                    <a:pt x="1370" y="759"/>
                  </a:lnTo>
                  <a:lnTo>
                    <a:pt x="1358" y="831"/>
                  </a:lnTo>
                  <a:lnTo>
                    <a:pt x="1339" y="901"/>
                  </a:lnTo>
                  <a:lnTo>
                    <a:pt x="1312" y="967"/>
                  </a:lnTo>
                  <a:lnTo>
                    <a:pt x="1280" y="1030"/>
                  </a:lnTo>
                  <a:lnTo>
                    <a:pt x="1241" y="1089"/>
                  </a:lnTo>
                  <a:lnTo>
                    <a:pt x="1197" y="1143"/>
                  </a:lnTo>
                  <a:lnTo>
                    <a:pt x="1147" y="1192"/>
                  </a:lnTo>
                  <a:lnTo>
                    <a:pt x="1092" y="1237"/>
                  </a:lnTo>
                  <a:lnTo>
                    <a:pt x="1033" y="1275"/>
                  </a:lnTo>
                  <a:lnTo>
                    <a:pt x="970" y="1308"/>
                  </a:lnTo>
                  <a:lnTo>
                    <a:pt x="904" y="1334"/>
                  </a:lnTo>
                  <a:lnTo>
                    <a:pt x="834" y="1353"/>
                  </a:lnTo>
                  <a:lnTo>
                    <a:pt x="762" y="1365"/>
                  </a:lnTo>
                  <a:lnTo>
                    <a:pt x="687" y="1369"/>
                  </a:lnTo>
                  <a:lnTo>
                    <a:pt x="612" y="1365"/>
                  </a:lnTo>
                  <a:lnTo>
                    <a:pt x="539" y="1353"/>
                  </a:lnTo>
                  <a:lnTo>
                    <a:pt x="470" y="1334"/>
                  </a:lnTo>
                  <a:lnTo>
                    <a:pt x="403" y="1308"/>
                  </a:lnTo>
                  <a:lnTo>
                    <a:pt x="340" y="1275"/>
                  </a:lnTo>
                  <a:lnTo>
                    <a:pt x="281" y="1237"/>
                  </a:lnTo>
                  <a:lnTo>
                    <a:pt x="227" y="1192"/>
                  </a:lnTo>
                  <a:lnTo>
                    <a:pt x="177" y="1143"/>
                  </a:lnTo>
                  <a:lnTo>
                    <a:pt x="132" y="1089"/>
                  </a:lnTo>
                  <a:lnTo>
                    <a:pt x="94" y="1030"/>
                  </a:lnTo>
                  <a:lnTo>
                    <a:pt x="61" y="967"/>
                  </a:lnTo>
                  <a:lnTo>
                    <a:pt x="35" y="901"/>
                  </a:lnTo>
                  <a:lnTo>
                    <a:pt x="16" y="831"/>
                  </a:lnTo>
                  <a:lnTo>
                    <a:pt x="4" y="759"/>
                  </a:lnTo>
                  <a:lnTo>
                    <a:pt x="0" y="684"/>
                  </a:lnTo>
                  <a:close/>
                </a:path>
              </a:pathLst>
            </a:custGeom>
            <a:noFill/>
            <a:ln w="76200">
              <a:solidFill>
                <a:srgbClr val="001f5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89" name="Picture 18" descr=""/>
            <p:cNvPicPr/>
            <p:nvPr/>
          </p:nvPicPr>
          <p:blipFill>
            <a:blip r:embed="rId9"/>
            <a:stretch/>
          </p:blipFill>
          <p:spPr>
            <a:xfrm>
              <a:off x="1175760" y="5276520"/>
              <a:ext cx="1018440" cy="9795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0" name="TextBox 33"/>
          <p:cNvSpPr/>
          <p:nvPr/>
        </p:nvSpPr>
        <p:spPr>
          <a:xfrm>
            <a:off x="3411000" y="3364920"/>
            <a:ext cx="3909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rgbClr val="001f5f"/>
                </a:solidFill>
                <a:latin typeface="Arial"/>
                <a:ea typeface="Times New Roman"/>
              </a:rPr>
              <a:t>Karnataka Law</a:t>
            </a:r>
            <a:r>
              <a:rPr b="1" lang="en-US" sz="1800" spc="228" strike="noStrike">
                <a:solidFill>
                  <a:srgbClr val="001f5f"/>
                </a:solidFill>
                <a:latin typeface="Arial"/>
                <a:ea typeface="Times New Roman"/>
              </a:rPr>
              <a:t> </a:t>
            </a:r>
            <a:r>
              <a:rPr b="1" lang="en-US" sz="1800" spc="-1" strike="noStrike">
                <a:solidFill>
                  <a:srgbClr val="001f5f"/>
                </a:solidFill>
                <a:latin typeface="Arial"/>
                <a:ea typeface="Times New Roman"/>
              </a:rPr>
              <a:t>Society's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4"/>
          <p:cNvSpPr/>
          <p:nvPr/>
        </p:nvSpPr>
        <p:spPr>
          <a:xfrm>
            <a:off x="2907720" y="4341960"/>
            <a:ext cx="9284040" cy="26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638640" defTabSz="914400">
              <a:lnSpc>
                <a:spcPts val="3600"/>
              </a:lnSpc>
              <a:spcBef>
                <a:spcPts val="6"/>
              </a:spcBef>
            </a:pPr>
            <a:r>
              <a:rPr b="1" lang="en-US" sz="2800" spc="-1" strike="noStrike">
                <a:solidFill>
                  <a:srgbClr val="006fc0"/>
                </a:solidFill>
                <a:latin typeface="Arial"/>
                <a:ea typeface="Times New Roman"/>
              </a:rPr>
              <a:t>INSTITUTE</a:t>
            </a:r>
            <a:r>
              <a:rPr b="1" lang="en-US" sz="2800" spc="154" strike="noStrike">
                <a:solidFill>
                  <a:srgbClr val="006fc0"/>
                </a:solidFill>
                <a:latin typeface="Arial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6fc0"/>
                </a:solidFill>
                <a:latin typeface="Arial"/>
                <a:ea typeface="Times New Roman"/>
              </a:rPr>
              <a:t>OF</a:t>
            </a:r>
            <a:r>
              <a:rPr b="1" lang="en-US" sz="2800" spc="134" strike="noStrike">
                <a:solidFill>
                  <a:srgbClr val="006fc0"/>
                </a:solidFill>
                <a:latin typeface="Arial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6fc0"/>
                </a:solidFill>
                <a:latin typeface="Arial"/>
                <a:ea typeface="Times New Roman"/>
              </a:rPr>
              <a:t>TECHNOLOGY</a:t>
            </a:r>
            <a:r>
              <a:rPr b="1" lang="en-US" sz="2800" spc="77" strike="noStrike">
                <a:solidFill>
                  <a:srgbClr val="006fc0"/>
                </a:solidFill>
                <a:latin typeface="Arial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6fc0"/>
                </a:solidFill>
                <a:latin typeface="Arial"/>
                <a:ea typeface="Times New Roman"/>
              </a:rPr>
              <a:t>(VDIT)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marL="2505600" defTabSz="914400">
              <a:lnSpc>
                <a:spcPct val="150000"/>
              </a:lnSpc>
            </a:pPr>
            <a:r>
              <a:rPr b="1" lang="en-US" sz="1800" spc="-1" strike="noStrike">
                <a:solidFill>
                  <a:srgbClr val="c00000"/>
                </a:solidFill>
                <a:latin typeface="Segoe Script"/>
                <a:ea typeface="Times New Roman"/>
              </a:rPr>
              <a:t>Transforming</a:t>
            </a:r>
            <a:r>
              <a:rPr b="1" lang="en-US" sz="1800" spc="-32" strike="noStrike">
                <a:solidFill>
                  <a:srgbClr val="c00000"/>
                </a:solidFill>
                <a:latin typeface="Segoe Script"/>
                <a:ea typeface="Times New Roman"/>
              </a:rPr>
              <a:t> </a:t>
            </a:r>
            <a:r>
              <a:rPr b="1" lang="en-US" sz="1800" spc="-1" strike="noStrike">
                <a:solidFill>
                  <a:srgbClr val="c00000"/>
                </a:solidFill>
                <a:latin typeface="Segoe Script"/>
                <a:ea typeface="Times New Roman"/>
              </a:rPr>
              <a:t>Through</a:t>
            </a:r>
            <a:r>
              <a:rPr b="1" lang="en-US" sz="1800" spc="-52" strike="noStrike">
                <a:solidFill>
                  <a:srgbClr val="c00000"/>
                </a:solidFill>
                <a:latin typeface="Segoe Script"/>
                <a:ea typeface="Times New Roman"/>
              </a:rPr>
              <a:t> </a:t>
            </a:r>
            <a:r>
              <a:rPr b="1" lang="en-US" sz="1800" spc="-1" strike="noStrike">
                <a:solidFill>
                  <a:srgbClr val="c00000"/>
                </a:solidFill>
                <a:latin typeface="Segoe Script"/>
                <a:ea typeface="Times New Roman"/>
              </a:rPr>
              <a:t>Technology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184680" algn="ctr" defTabSz="914400">
              <a:lnSpc>
                <a:spcPct val="100000"/>
              </a:lnSpc>
              <a:spcBef>
                <a:spcPts val="1511"/>
              </a:spcBef>
            </a:pPr>
            <a:r>
              <a:rPr b="0" lang="en-US" sz="2400" spc="-1" strike="noStrike">
                <a:solidFill>
                  <a:srgbClr val="001f5f"/>
                </a:solidFill>
                <a:latin typeface="Arial Black"/>
                <a:ea typeface="Times New Roman"/>
              </a:rPr>
              <a:t>Department</a:t>
            </a:r>
            <a:r>
              <a:rPr b="0" lang="en-US" sz="2400" spc="32" strike="noStrike">
                <a:solidFill>
                  <a:srgbClr val="001f5f"/>
                </a:solidFill>
                <a:latin typeface="Arial Black"/>
                <a:ea typeface="Times New Roman"/>
              </a:rPr>
              <a:t> </a:t>
            </a:r>
            <a:r>
              <a:rPr b="0" lang="en-US" sz="2400" spc="-1" strike="noStrike">
                <a:solidFill>
                  <a:srgbClr val="001f5f"/>
                </a:solidFill>
                <a:latin typeface="Arial Black"/>
                <a:ea typeface="Times New Roman"/>
              </a:rPr>
              <a:t>of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196920" algn="ctr"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001f5f"/>
                </a:solidFill>
                <a:latin typeface="Arial Black"/>
                <a:ea typeface="Times New Roman"/>
              </a:rPr>
              <a:t>Electronics</a:t>
            </a:r>
            <a:r>
              <a:rPr b="0" lang="en-US" sz="2400" spc="-7" strike="noStrike">
                <a:solidFill>
                  <a:srgbClr val="001f5f"/>
                </a:solidFill>
                <a:latin typeface="Arial Black"/>
                <a:ea typeface="Times New Roman"/>
              </a:rPr>
              <a:t> </a:t>
            </a:r>
            <a:r>
              <a:rPr b="0" lang="en-US" sz="2400" spc="-1" strike="noStrike">
                <a:solidFill>
                  <a:srgbClr val="001f5f"/>
                </a:solidFill>
                <a:latin typeface="Arial Black"/>
                <a:ea typeface="Times New Roman"/>
              </a:rPr>
              <a:t>and</a:t>
            </a:r>
            <a:r>
              <a:rPr b="0" lang="en-US" sz="2400" spc="-15" strike="noStrike">
                <a:solidFill>
                  <a:srgbClr val="001f5f"/>
                </a:solidFill>
                <a:latin typeface="Arial Black"/>
                <a:ea typeface="Times New Roman"/>
              </a:rPr>
              <a:t> </a:t>
            </a:r>
            <a:r>
              <a:rPr b="0" lang="en-US" sz="2400" spc="-1" strike="noStrike">
                <a:solidFill>
                  <a:srgbClr val="001f5f"/>
                </a:solidFill>
                <a:latin typeface="Arial Black"/>
                <a:ea typeface="Times New Roman"/>
              </a:rPr>
              <a:t>Communication</a:t>
            </a:r>
            <a:r>
              <a:rPr b="0" lang="en-US" sz="2400" spc="-7" strike="noStrike">
                <a:solidFill>
                  <a:srgbClr val="001f5f"/>
                </a:solidFill>
                <a:latin typeface="Arial Black"/>
                <a:ea typeface="Times New Roman"/>
              </a:rPr>
              <a:t> </a:t>
            </a:r>
            <a:r>
              <a:rPr b="0" lang="en-US" sz="2400" spc="-1" strike="noStrike">
                <a:solidFill>
                  <a:srgbClr val="001f5f"/>
                </a:solidFill>
                <a:latin typeface="Arial Black"/>
                <a:ea typeface="Times New Roman"/>
              </a:rPr>
              <a:t>Engineering</a:t>
            </a:r>
            <a:r>
              <a:rPr b="1" lang="en-US" sz="2400" spc="-1" strike="noStrike">
                <a:solidFill>
                  <a:srgbClr val="ffffff"/>
                </a:solidFill>
                <a:highlight>
                  <a:srgbClr val="c0c0c0"/>
                </a:highlight>
                <a:latin typeface="Arial"/>
                <a:ea typeface="Times New Roman"/>
              </a:rPr>
              <a:t>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spcBef>
                <a:spcPts val="1494"/>
              </a:spcBef>
              <a:tabLst>
                <a:tab algn="l" pos="254160"/>
                <a:tab algn="l" pos="2280960"/>
              </a:tabLst>
            </a:pPr>
            <a:r>
              <a:rPr b="1" lang="en-US" sz="1800" spc="-1" strike="noStrike">
                <a:solidFill>
                  <a:srgbClr val="ffffff"/>
                </a:solidFill>
                <a:highlight>
                  <a:srgbClr val="c0c0c0"/>
                </a:highlight>
                <a:latin typeface="Arial"/>
                <a:ea typeface="Times New Roman"/>
              </a:rPr>
              <a:t> </a:t>
            </a:r>
            <a:r>
              <a:rPr b="1" lang="en-US" sz="1800" spc="-1" strike="noStrike">
                <a:solidFill>
                  <a:srgbClr val="ffffff"/>
                </a:solidFill>
                <a:highlight>
                  <a:srgbClr val="c0c0c0"/>
                </a:highlight>
                <a:latin typeface="Arial"/>
                <a:ea typeface="Times New Roman"/>
              </a:rPr>
              <a:t>	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10"/>
              </a:rPr>
              <a:t>w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11"/>
              </a:rPr>
              <a:t>w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12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13"/>
              </a:rPr>
              <a:t>w</a:t>
            </a:r>
            <a:r>
              <a:rPr b="1" lang="en-US" sz="1800" spc="-106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14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15"/>
              </a:rPr>
              <a:t>.</a:t>
            </a:r>
            <a:r>
              <a:rPr b="1" lang="en-US" sz="1800" spc="9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16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17"/>
              </a:rPr>
              <a:t>k</a:t>
            </a:r>
            <a:r>
              <a:rPr b="1" lang="en-US" sz="1800" spc="4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18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19"/>
              </a:rPr>
              <a:t>l</a:t>
            </a:r>
            <a:r>
              <a:rPr b="1" lang="en-US" sz="1800" spc="4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20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21"/>
              </a:rPr>
              <a:t>s</a:t>
            </a:r>
            <a:r>
              <a:rPr b="1" lang="en-US" sz="1800" spc="9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22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23"/>
              </a:rPr>
              <a:t>v d</a:t>
            </a:r>
            <a:r>
              <a:rPr b="1" lang="en-US" sz="1800" spc="4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24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25"/>
              </a:rPr>
              <a:t>i</a:t>
            </a:r>
            <a:r>
              <a:rPr b="1" lang="en-US" sz="1800" spc="4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26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27"/>
              </a:rPr>
              <a:t>t</a:t>
            </a:r>
            <a:r>
              <a:rPr b="1" lang="en-US" sz="1800" spc="9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28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29"/>
              </a:rPr>
              <a:t>.</a:t>
            </a:r>
            <a:r>
              <a:rPr b="1" lang="en-US" sz="1800" spc="4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30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31"/>
              </a:rPr>
              <a:t>e</a:t>
            </a:r>
            <a:r>
              <a:rPr b="1" lang="en-US" sz="1800" spc="4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32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33"/>
              </a:rPr>
              <a:t>d</a:t>
            </a:r>
            <a:r>
              <a:rPr b="1" lang="en-US" sz="1800" spc="4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34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35"/>
              </a:rPr>
              <a:t>u .</a:t>
            </a:r>
            <a:r>
              <a:rPr b="1" lang="en-US" sz="1800" spc="9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36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37"/>
              </a:rPr>
              <a:t>i</a:t>
            </a:r>
            <a:r>
              <a:rPr b="1" lang="en-US" sz="1800" spc="4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38"/>
              </a:rPr>
              <a:t> 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c0c0c0"/>
                </a:highlight>
                <a:uFillTx/>
                <a:latin typeface="Arial"/>
                <a:ea typeface="Times New Roman"/>
                <a:hlinkClick r:id="rId39"/>
              </a:rPr>
              <a:t>n</a:t>
            </a:r>
            <a:r>
              <a:rPr b="1" lang="en-US" sz="1800" spc="-1" strike="noStrike" u="sng">
                <a:solidFill>
                  <a:srgbClr val="0563c1"/>
                </a:solidFill>
                <a:highlight>
                  <a:srgbClr val="205868"/>
                </a:highlight>
                <a:uFillTx/>
                <a:latin typeface="Arial"/>
                <a:ea typeface="Times New Roman"/>
                <a:hlinkClick r:id="rId40"/>
              </a:rPr>
              <a:t>	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254160"/>
                <a:tab algn="l" pos="228096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6"/>
          <p:cNvSpPr/>
          <p:nvPr/>
        </p:nvSpPr>
        <p:spPr>
          <a:xfrm>
            <a:off x="691920" y="4709160"/>
            <a:ext cx="731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1939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37"/>
          <p:cNvSpPr/>
          <p:nvPr/>
        </p:nvSpPr>
        <p:spPr>
          <a:xfrm>
            <a:off x="2125800" y="4714560"/>
            <a:ext cx="102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2004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38"/>
          <p:cNvSpPr/>
          <p:nvPr/>
        </p:nvSpPr>
        <p:spPr>
          <a:xfrm>
            <a:off x="1379160" y="6353640"/>
            <a:ext cx="101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2023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C216B23-E251-459F-BF09-685C0D3B15B1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676520" y="2572920"/>
            <a:ext cx="876276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9992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2200" spc="-1" strike="noStrike">
                <a:solidFill>
                  <a:srgbClr val="c00000"/>
                </a:solidFill>
                <a:latin typeface="Times New Roman"/>
              </a:rPr>
              <a:t>A  Presentation entitled</a:t>
            </a:r>
            <a:br>
              <a:rPr sz="2200"/>
            </a:br>
            <a:r>
              <a:rPr b="1" lang="en-US" sz="3600" spc="-1" strike="noStrike">
                <a:solidFill>
                  <a:srgbClr val="c00000"/>
                </a:solidFill>
                <a:latin typeface="Times New Roman"/>
              </a:rPr>
              <a:t>Body Posture Monitor For Desk Workers</a:t>
            </a:r>
            <a:br>
              <a:rPr sz="2700"/>
            </a:b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1752480" y="2913480"/>
            <a:ext cx="853416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915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8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002060"/>
                </a:solidFill>
                <a:latin typeface="Times New Roman"/>
              </a:rPr>
              <a:t>Presented by</a:t>
            </a:r>
            <a:endParaRPr b="0" lang="en-IN" sz="8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8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8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8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8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8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002060"/>
                </a:solidFill>
                <a:latin typeface="Times New Roman"/>
              </a:rPr>
              <a:t>Under the Guidance of</a:t>
            </a:r>
            <a:endParaRPr b="0" lang="en-IN" sz="8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2000" spc="-1" strike="noStrike">
                <a:solidFill>
                  <a:srgbClr val="c00000"/>
                </a:solidFill>
                <a:latin typeface="Times New Roman"/>
              </a:rPr>
              <a:t>Dr. Nagaraj. Bhat</a:t>
            </a:r>
            <a:endParaRPr b="0" lang="en-IN" sz="12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0400" spc="-1" strike="noStrike">
                <a:solidFill>
                  <a:srgbClr val="002060"/>
                </a:solidFill>
                <a:latin typeface="Times New Roman"/>
              </a:rPr>
              <a:t>Department of E&amp;CE</a:t>
            </a:r>
            <a:endParaRPr b="0" lang="en-IN" sz="10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rgbClr val="c00000"/>
                </a:solidFill>
                <a:latin typeface="Times New Roman"/>
              </a:rPr>
              <a:t>(Academic Year 2024-25)</a:t>
            </a:r>
            <a:endParaRPr b="0" lang="en-IN" sz="8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Picture 5" descr=""/>
          <p:cNvPicPr/>
          <p:nvPr/>
        </p:nvPicPr>
        <p:blipFill>
          <a:blip r:embed="rId1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98" name="Rectangle 3"/>
          <p:cNvSpPr/>
          <p:nvPr/>
        </p:nvSpPr>
        <p:spPr>
          <a:xfrm>
            <a:off x="1676520" y="33480"/>
            <a:ext cx="892440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IN" sz="2500" spc="-1" strike="noStrike">
                <a:solidFill>
                  <a:srgbClr val="c00000"/>
                </a:solidFill>
                <a:latin typeface="Times New Roman"/>
                <a:ea typeface="Times New Roman"/>
              </a:rPr>
              <a:t>Visvesvaraya Technological University, Jnana Sangama, Belagavi – 590 018 </a:t>
            </a:r>
            <a:endParaRPr b="0" lang="en-IN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7"/>
          <p:cNvSpPr/>
          <p:nvPr/>
        </p:nvSpPr>
        <p:spPr>
          <a:xfrm>
            <a:off x="1683360" y="885960"/>
            <a:ext cx="9143640" cy="12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15000"/>
              </a:lnSpc>
              <a:tabLst>
                <a:tab algn="l" pos="171360"/>
              </a:tabLst>
            </a:pPr>
            <a:r>
              <a:rPr b="1" lang="en-US" sz="2500" spc="-1" strike="noStrike">
                <a:solidFill>
                  <a:srgbClr val="3333cc"/>
                </a:solidFill>
                <a:latin typeface="Rockwell Condensed"/>
                <a:ea typeface="Adobe Heiti Std R"/>
              </a:rPr>
              <a:t>KLS Vishwanathrao Deshpande Institute of Technology, </a:t>
            </a:r>
            <a:endParaRPr b="0" lang="en-IN" sz="2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171360"/>
              </a:tabLst>
            </a:pPr>
            <a:r>
              <a:rPr b="1" lang="en-US" sz="2500" spc="-1" strike="noStrike">
                <a:solidFill>
                  <a:srgbClr val="3333cc"/>
                </a:solidFill>
                <a:latin typeface="Rockwell Condensed"/>
                <a:ea typeface="Adobe Heiti Std R"/>
              </a:rPr>
              <a:t>Haliyal – 581 329</a:t>
            </a:r>
            <a:endParaRPr b="0" lang="en-IN" sz="2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171360"/>
              </a:tabLst>
            </a:pPr>
            <a:r>
              <a:rPr b="1" lang="en-US" sz="2000" spc="-1" strike="noStrike">
                <a:solidFill>
                  <a:srgbClr val="ff0000"/>
                </a:solidFill>
                <a:latin typeface="Times New Roman"/>
                <a:ea typeface="Adobe Heiti Std R"/>
              </a:rPr>
              <a:t>(</a:t>
            </a:r>
            <a:r>
              <a:rPr b="1" lang="en-IN" sz="2000" spc="-1" strike="noStrike">
                <a:solidFill>
                  <a:srgbClr val="ff0000"/>
                </a:solidFill>
                <a:latin typeface="Times New Roman"/>
                <a:ea typeface="Adobe Heiti Std R"/>
              </a:rPr>
              <a:t>Accredited by NAAC with “A” Grade)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Picture 9" descr=""/>
          <p:cNvPicPr/>
          <p:nvPr/>
        </p:nvPicPr>
        <p:blipFill>
          <a:blip r:embed="rId2"/>
          <a:stretch/>
        </p:blipFill>
        <p:spPr>
          <a:xfrm>
            <a:off x="677520" y="1706040"/>
            <a:ext cx="1218960" cy="14950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1" name="Table 8"/>
          <p:cNvGraphicFramePr/>
          <p:nvPr/>
        </p:nvGraphicFramePr>
        <p:xfrm>
          <a:off x="3200400" y="3572280"/>
          <a:ext cx="5608800" cy="1683360"/>
        </p:xfrm>
        <a:graphic>
          <a:graphicData uri="http://schemas.openxmlformats.org/drawingml/2006/table">
            <a:tbl>
              <a:tblPr/>
              <a:tblGrid>
                <a:gridCol w="4030200"/>
                <a:gridCol w="1578600"/>
              </a:tblGrid>
              <a:tr h="4053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6"/>
                        </a:spcAft>
                      </a:pPr>
                      <a:r>
                        <a:rPr b="0" lang="en-US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  <a:ea typeface="Calibri"/>
                        </a:rPr>
                        <a:t>S</a:t>
                      </a:r>
                      <a:r>
                        <a:rPr b="0" lang="en-IN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  <a:ea typeface="Calibri"/>
                        </a:rPr>
                        <a:t>rushti Kolekar 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107000"/>
                        </a:lnSpc>
                        <a:spcAft>
                          <a:spcPts val="6"/>
                        </a:spcAft>
                      </a:pPr>
                      <a:r>
                        <a:rPr b="0" lang="en-IN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</a:rPr>
                        <a:t>2VD23EC106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27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6"/>
                        </a:spcAft>
                      </a:pPr>
                      <a:r>
                        <a:rPr b="0" lang="en-US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  <a:ea typeface="Calibri"/>
                        </a:rPr>
                        <a:t>S</a:t>
                      </a:r>
                      <a:r>
                        <a:rPr b="0" lang="en-IN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  <a:ea typeface="Calibri"/>
                        </a:rPr>
                        <a:t>udeep T. Gotur 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107000"/>
                        </a:lnSpc>
                        <a:spcAft>
                          <a:spcPts val="6"/>
                        </a:spcAft>
                      </a:pPr>
                      <a:r>
                        <a:rPr b="0" lang="en-IN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</a:rPr>
                        <a:t>2VD23EC107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952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6"/>
                        </a:spcAft>
                      </a:pPr>
                      <a:r>
                        <a:rPr b="0" lang="en-US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  <a:ea typeface="Calibri"/>
                        </a:rPr>
                        <a:t>S</a:t>
                      </a:r>
                      <a:r>
                        <a:rPr b="0" lang="en-IN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  <a:ea typeface="Calibri"/>
                        </a:rPr>
                        <a:t>uhas Rotti 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107000"/>
                        </a:lnSpc>
                        <a:spcAft>
                          <a:spcPts val="6"/>
                        </a:spcAft>
                      </a:pPr>
                      <a:r>
                        <a:rPr b="0" lang="en-IN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</a:rPr>
                        <a:t>2VD23EC108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53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107000"/>
                        </a:lnSpc>
                        <a:spcAft>
                          <a:spcPts val="6"/>
                        </a:spcAft>
                      </a:pPr>
                      <a:r>
                        <a:rPr b="0" lang="en-US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  <a:ea typeface="Calibri"/>
                        </a:rPr>
                        <a:t>S</a:t>
                      </a:r>
                      <a:r>
                        <a:rPr b="0" lang="en-IN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  <a:ea typeface="Calibri"/>
                        </a:rPr>
                        <a:t>ujata S. Waghamode 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107000"/>
                        </a:lnSpc>
                        <a:spcAft>
                          <a:spcPts val="6"/>
                        </a:spcAft>
                      </a:pPr>
                      <a:r>
                        <a:rPr b="0" lang="en-IN" sz="1800" spc="-1" strike="noStrike">
                          <a:solidFill>
                            <a:schemeClr val="lt2">
                              <a:lumMod val="10000"/>
                            </a:schemeClr>
                          </a:solidFill>
                          <a:latin typeface="Times New Roman"/>
                        </a:rPr>
                        <a:t>2VD23EC110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68400" marR="68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2" name="image11.png" descr=""/>
          <p:cNvPicPr/>
          <p:nvPr/>
        </p:nvPicPr>
        <p:blipFill>
          <a:blip r:embed="rId3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grpSp>
        <p:nvGrpSpPr>
          <p:cNvPr id="103" name="Group 2"/>
          <p:cNvGrpSpPr/>
          <p:nvPr/>
        </p:nvGrpSpPr>
        <p:grpSpPr>
          <a:xfrm>
            <a:off x="10306800" y="1955520"/>
            <a:ext cx="871200" cy="869400"/>
            <a:chOff x="10306800" y="1955520"/>
            <a:chExt cx="871200" cy="869400"/>
          </a:xfrm>
        </p:grpSpPr>
        <p:sp>
          <p:nvSpPr>
            <p:cNvPr id="104" name="Freeform 3"/>
            <p:cNvSpPr/>
            <p:nvPr/>
          </p:nvSpPr>
          <p:spPr>
            <a:xfrm>
              <a:off x="10306800" y="1955520"/>
              <a:ext cx="871200" cy="869400"/>
            </a:xfrm>
            <a:custGeom>
              <a:avLst/>
              <a:gdLst>
                <a:gd name="textAreaLeft" fmla="*/ 0 w 871200"/>
                <a:gd name="textAreaRight" fmla="*/ 871560 w 871200"/>
                <a:gd name="textAreaTop" fmla="*/ 0 h 869400"/>
                <a:gd name="textAreaBottom" fmla="*/ 869760 h 869400"/>
              </a:gdLst>
              <a:ahLst/>
              <a:rect l="textAreaLeft" t="textAreaTop" r="textAreaRight" b="textAreaBottom"/>
              <a:pathLst>
                <a:path w="1374" h="1369">
                  <a:moveTo>
                    <a:pt x="687" y="0"/>
                  </a:moveTo>
                  <a:lnTo>
                    <a:pt x="612" y="4"/>
                  </a:lnTo>
                  <a:lnTo>
                    <a:pt x="539" y="15"/>
                  </a:lnTo>
                  <a:lnTo>
                    <a:pt x="470" y="34"/>
                  </a:lnTo>
                  <a:lnTo>
                    <a:pt x="403" y="61"/>
                  </a:lnTo>
                  <a:lnTo>
                    <a:pt x="340" y="93"/>
                  </a:lnTo>
                  <a:lnTo>
                    <a:pt x="281" y="132"/>
                  </a:lnTo>
                  <a:lnTo>
                    <a:pt x="227" y="176"/>
                  </a:lnTo>
                  <a:lnTo>
                    <a:pt x="177" y="225"/>
                  </a:lnTo>
                  <a:lnTo>
                    <a:pt x="133" y="280"/>
                  </a:lnTo>
                  <a:lnTo>
                    <a:pt x="94" y="339"/>
                  </a:lnTo>
                  <a:lnTo>
                    <a:pt x="61" y="401"/>
                  </a:lnTo>
                  <a:lnTo>
                    <a:pt x="35" y="468"/>
                  </a:lnTo>
                  <a:lnTo>
                    <a:pt x="16" y="537"/>
                  </a:lnTo>
                  <a:lnTo>
                    <a:pt x="4" y="609"/>
                  </a:lnTo>
                  <a:lnTo>
                    <a:pt x="0" y="684"/>
                  </a:lnTo>
                  <a:lnTo>
                    <a:pt x="4" y="759"/>
                  </a:lnTo>
                  <a:lnTo>
                    <a:pt x="16" y="831"/>
                  </a:lnTo>
                  <a:lnTo>
                    <a:pt x="35" y="900"/>
                  </a:lnTo>
                  <a:lnTo>
                    <a:pt x="61" y="967"/>
                  </a:lnTo>
                  <a:lnTo>
                    <a:pt x="94" y="1029"/>
                  </a:lnTo>
                  <a:lnTo>
                    <a:pt x="133" y="1088"/>
                  </a:lnTo>
                  <a:lnTo>
                    <a:pt x="177" y="1143"/>
                  </a:lnTo>
                  <a:lnTo>
                    <a:pt x="227" y="1192"/>
                  </a:lnTo>
                  <a:lnTo>
                    <a:pt x="281" y="1236"/>
                  </a:lnTo>
                  <a:lnTo>
                    <a:pt x="340" y="1275"/>
                  </a:lnTo>
                  <a:lnTo>
                    <a:pt x="403" y="1307"/>
                  </a:lnTo>
                  <a:lnTo>
                    <a:pt x="470" y="1334"/>
                  </a:lnTo>
                  <a:lnTo>
                    <a:pt x="539" y="1353"/>
                  </a:lnTo>
                  <a:lnTo>
                    <a:pt x="612" y="1364"/>
                  </a:lnTo>
                  <a:lnTo>
                    <a:pt x="687" y="1368"/>
                  </a:lnTo>
                  <a:lnTo>
                    <a:pt x="762" y="1364"/>
                  </a:lnTo>
                  <a:lnTo>
                    <a:pt x="834" y="1353"/>
                  </a:lnTo>
                  <a:lnTo>
                    <a:pt x="904" y="1334"/>
                  </a:lnTo>
                  <a:lnTo>
                    <a:pt x="970" y="1307"/>
                  </a:lnTo>
                  <a:lnTo>
                    <a:pt x="1033" y="1275"/>
                  </a:lnTo>
                  <a:lnTo>
                    <a:pt x="1092" y="1236"/>
                  </a:lnTo>
                  <a:lnTo>
                    <a:pt x="1147" y="1192"/>
                  </a:lnTo>
                  <a:lnTo>
                    <a:pt x="1197" y="1143"/>
                  </a:lnTo>
                  <a:lnTo>
                    <a:pt x="1241" y="1088"/>
                  </a:lnTo>
                  <a:lnTo>
                    <a:pt x="1280" y="1029"/>
                  </a:lnTo>
                  <a:lnTo>
                    <a:pt x="1312" y="967"/>
                  </a:lnTo>
                  <a:lnTo>
                    <a:pt x="1339" y="900"/>
                  </a:lnTo>
                  <a:lnTo>
                    <a:pt x="1358" y="831"/>
                  </a:lnTo>
                  <a:lnTo>
                    <a:pt x="1370" y="759"/>
                  </a:lnTo>
                  <a:lnTo>
                    <a:pt x="1374" y="684"/>
                  </a:lnTo>
                  <a:lnTo>
                    <a:pt x="1370" y="609"/>
                  </a:lnTo>
                  <a:lnTo>
                    <a:pt x="1358" y="537"/>
                  </a:lnTo>
                  <a:lnTo>
                    <a:pt x="1339" y="468"/>
                  </a:lnTo>
                  <a:lnTo>
                    <a:pt x="1312" y="401"/>
                  </a:lnTo>
                  <a:lnTo>
                    <a:pt x="1280" y="339"/>
                  </a:lnTo>
                  <a:lnTo>
                    <a:pt x="1241" y="280"/>
                  </a:lnTo>
                  <a:lnTo>
                    <a:pt x="1197" y="225"/>
                  </a:lnTo>
                  <a:lnTo>
                    <a:pt x="1147" y="176"/>
                  </a:lnTo>
                  <a:lnTo>
                    <a:pt x="1092" y="132"/>
                  </a:lnTo>
                  <a:lnTo>
                    <a:pt x="1033" y="93"/>
                  </a:lnTo>
                  <a:lnTo>
                    <a:pt x="970" y="61"/>
                  </a:lnTo>
                  <a:lnTo>
                    <a:pt x="904" y="34"/>
                  </a:lnTo>
                  <a:lnTo>
                    <a:pt x="834" y="15"/>
                  </a:lnTo>
                  <a:lnTo>
                    <a:pt x="762" y="4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05" name="Freeform 4"/>
            <p:cNvSpPr/>
            <p:nvPr/>
          </p:nvSpPr>
          <p:spPr>
            <a:xfrm>
              <a:off x="10306800" y="1955520"/>
              <a:ext cx="871200" cy="869400"/>
            </a:xfrm>
            <a:custGeom>
              <a:avLst/>
              <a:gdLst>
                <a:gd name="textAreaLeft" fmla="*/ 0 w 871200"/>
                <a:gd name="textAreaRight" fmla="*/ 871560 w 871200"/>
                <a:gd name="textAreaTop" fmla="*/ 0 h 869400"/>
                <a:gd name="textAreaBottom" fmla="*/ 869760 h 869400"/>
              </a:gdLst>
              <a:ahLst/>
              <a:rect l="textAreaLeft" t="textAreaTop" r="textAreaRight" b="textAreaBottom"/>
              <a:pathLst>
                <a:path w="1374" h="1369">
                  <a:moveTo>
                    <a:pt x="0" y="684"/>
                  </a:moveTo>
                  <a:lnTo>
                    <a:pt x="4" y="609"/>
                  </a:lnTo>
                  <a:lnTo>
                    <a:pt x="16" y="537"/>
                  </a:lnTo>
                  <a:lnTo>
                    <a:pt x="35" y="468"/>
                  </a:lnTo>
                  <a:lnTo>
                    <a:pt x="61" y="401"/>
                  </a:lnTo>
                  <a:lnTo>
                    <a:pt x="94" y="339"/>
                  </a:lnTo>
                  <a:lnTo>
                    <a:pt x="133" y="280"/>
                  </a:lnTo>
                  <a:lnTo>
                    <a:pt x="177" y="225"/>
                  </a:lnTo>
                  <a:lnTo>
                    <a:pt x="227" y="176"/>
                  </a:lnTo>
                  <a:lnTo>
                    <a:pt x="281" y="132"/>
                  </a:lnTo>
                  <a:lnTo>
                    <a:pt x="340" y="93"/>
                  </a:lnTo>
                  <a:lnTo>
                    <a:pt x="403" y="61"/>
                  </a:lnTo>
                  <a:lnTo>
                    <a:pt x="470" y="34"/>
                  </a:lnTo>
                  <a:lnTo>
                    <a:pt x="539" y="15"/>
                  </a:lnTo>
                  <a:lnTo>
                    <a:pt x="612" y="4"/>
                  </a:lnTo>
                  <a:lnTo>
                    <a:pt x="687" y="0"/>
                  </a:lnTo>
                  <a:lnTo>
                    <a:pt x="762" y="4"/>
                  </a:lnTo>
                  <a:lnTo>
                    <a:pt x="834" y="15"/>
                  </a:lnTo>
                  <a:lnTo>
                    <a:pt x="904" y="34"/>
                  </a:lnTo>
                  <a:lnTo>
                    <a:pt x="970" y="61"/>
                  </a:lnTo>
                  <a:lnTo>
                    <a:pt x="1033" y="93"/>
                  </a:lnTo>
                  <a:lnTo>
                    <a:pt x="1092" y="132"/>
                  </a:lnTo>
                  <a:lnTo>
                    <a:pt x="1147" y="176"/>
                  </a:lnTo>
                  <a:lnTo>
                    <a:pt x="1197" y="225"/>
                  </a:lnTo>
                  <a:lnTo>
                    <a:pt x="1241" y="280"/>
                  </a:lnTo>
                  <a:lnTo>
                    <a:pt x="1280" y="339"/>
                  </a:lnTo>
                  <a:lnTo>
                    <a:pt x="1312" y="401"/>
                  </a:lnTo>
                  <a:lnTo>
                    <a:pt x="1339" y="468"/>
                  </a:lnTo>
                  <a:lnTo>
                    <a:pt x="1358" y="537"/>
                  </a:lnTo>
                  <a:lnTo>
                    <a:pt x="1370" y="609"/>
                  </a:lnTo>
                  <a:lnTo>
                    <a:pt x="1374" y="684"/>
                  </a:lnTo>
                  <a:lnTo>
                    <a:pt x="1370" y="759"/>
                  </a:lnTo>
                  <a:lnTo>
                    <a:pt x="1358" y="831"/>
                  </a:lnTo>
                  <a:lnTo>
                    <a:pt x="1339" y="900"/>
                  </a:lnTo>
                  <a:lnTo>
                    <a:pt x="1312" y="967"/>
                  </a:lnTo>
                  <a:lnTo>
                    <a:pt x="1280" y="1029"/>
                  </a:lnTo>
                  <a:lnTo>
                    <a:pt x="1241" y="1088"/>
                  </a:lnTo>
                  <a:lnTo>
                    <a:pt x="1197" y="1143"/>
                  </a:lnTo>
                  <a:lnTo>
                    <a:pt x="1147" y="1192"/>
                  </a:lnTo>
                  <a:lnTo>
                    <a:pt x="1092" y="1236"/>
                  </a:lnTo>
                  <a:lnTo>
                    <a:pt x="1033" y="1275"/>
                  </a:lnTo>
                  <a:lnTo>
                    <a:pt x="970" y="1307"/>
                  </a:lnTo>
                  <a:lnTo>
                    <a:pt x="904" y="1334"/>
                  </a:lnTo>
                  <a:lnTo>
                    <a:pt x="834" y="1353"/>
                  </a:lnTo>
                  <a:lnTo>
                    <a:pt x="762" y="1364"/>
                  </a:lnTo>
                  <a:lnTo>
                    <a:pt x="687" y="1368"/>
                  </a:lnTo>
                  <a:lnTo>
                    <a:pt x="612" y="1364"/>
                  </a:lnTo>
                  <a:lnTo>
                    <a:pt x="539" y="1353"/>
                  </a:lnTo>
                  <a:lnTo>
                    <a:pt x="470" y="1334"/>
                  </a:lnTo>
                  <a:lnTo>
                    <a:pt x="403" y="1307"/>
                  </a:lnTo>
                  <a:lnTo>
                    <a:pt x="340" y="1275"/>
                  </a:lnTo>
                  <a:lnTo>
                    <a:pt x="281" y="1236"/>
                  </a:lnTo>
                  <a:lnTo>
                    <a:pt x="227" y="1192"/>
                  </a:lnTo>
                  <a:lnTo>
                    <a:pt x="177" y="1143"/>
                  </a:lnTo>
                  <a:lnTo>
                    <a:pt x="133" y="1088"/>
                  </a:lnTo>
                  <a:lnTo>
                    <a:pt x="94" y="1029"/>
                  </a:lnTo>
                  <a:lnTo>
                    <a:pt x="61" y="967"/>
                  </a:lnTo>
                  <a:lnTo>
                    <a:pt x="35" y="900"/>
                  </a:lnTo>
                  <a:lnTo>
                    <a:pt x="16" y="831"/>
                  </a:lnTo>
                  <a:lnTo>
                    <a:pt x="4" y="759"/>
                  </a:lnTo>
                  <a:lnTo>
                    <a:pt x="0" y="684"/>
                  </a:lnTo>
                  <a:close/>
                </a:path>
              </a:pathLst>
            </a:custGeom>
            <a:noFill/>
            <a:ln w="76200">
              <a:solidFill>
                <a:srgbClr val="001f5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IN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106" name="Picture 5" descr=""/>
            <p:cNvPicPr/>
            <p:nvPr/>
          </p:nvPicPr>
          <p:blipFill>
            <a:blip r:embed="rId4"/>
            <a:stretch/>
          </p:blipFill>
          <p:spPr>
            <a:xfrm>
              <a:off x="10362960" y="2028600"/>
              <a:ext cx="762840" cy="73152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IN" sz="4000" spc="-1" strike="noStrike" u="sng">
                <a:solidFill>
                  <a:srgbClr val="c00000"/>
                </a:solidFill>
                <a:uFillTx/>
                <a:latin typeface="Times New Roman"/>
              </a:rPr>
              <a:t>PRESENTATION OUTLINE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13000" y="1426680"/>
            <a:ext cx="10713960" cy="478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Motivation 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Introduction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Literature Survey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Objectives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Block Diagram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Circuit Diagram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Working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Outcomes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Advantages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Applications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References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US" sz="2000" spc="-1" strike="noStrike">
                <a:solidFill>
                  <a:srgbClr val="002060"/>
                </a:solidFill>
                <a:latin typeface="Times New Roman"/>
              </a:rPr>
              <a:t>Acknowledgement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9" name="image11.png" descr=""/>
          <p:cNvPicPr/>
          <p:nvPr/>
        </p:nvPicPr>
        <p:blipFill>
          <a:blip r:embed="rId1"/>
          <a:stretch/>
        </p:blipFill>
        <p:spPr>
          <a:xfrm>
            <a:off x="759600" y="30780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4" descr=""/>
          <p:cNvPicPr/>
          <p:nvPr/>
        </p:nvPicPr>
        <p:blipFill>
          <a:blip r:embed="rId2"/>
          <a:stretch/>
        </p:blipFill>
        <p:spPr>
          <a:xfrm>
            <a:off x="10192680" y="23652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11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FA1F8D6-A1F7-48F0-A031-39FCD93775B6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fld id="{A1C34132-2D35-487C-B204-C7B0D675A6B4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IN" sz="4000" spc="-1" strike="noStrike" u="sng">
                <a:solidFill>
                  <a:srgbClr val="c00000"/>
                </a:solidFill>
                <a:uFillTx/>
                <a:latin typeface="Times New Roman"/>
              </a:rPr>
              <a:t>MOTIVATION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3" name="image11.png" descr=""/>
          <p:cNvPicPr/>
          <p:nvPr/>
        </p:nvPicPr>
        <p:blipFill>
          <a:blip r:embed="rId1"/>
          <a:stretch/>
        </p:blipFill>
        <p:spPr>
          <a:xfrm>
            <a:off x="428760" y="38052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11" descr=""/>
          <p:cNvPicPr/>
          <p:nvPr/>
        </p:nvPicPr>
        <p:blipFill>
          <a:blip r:embed="rId2"/>
          <a:stretch/>
        </p:blipFill>
        <p:spPr>
          <a:xfrm>
            <a:off x="10453320" y="41112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909360" y="1600200"/>
            <a:ext cx="10990440" cy="475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Many desk workers suffer from back pain and neck pain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People unknowingly sit in the wrong posture for long hours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No real-time alert system to correct posture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Medical treatment is costly and time-consuming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Prevention is better than a cure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Simple technology can improve daily life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Our goal is to use sensors to improve human health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This project brings technology and health together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39592B4-CF53-497C-9F00-A18C7B44B62D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ABA74B2-2350-4466-9F7D-A5B0BE3BD302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INTRODUCTION</a:t>
            </a:r>
            <a:r>
              <a:rPr b="1" lang="en-US" sz="4400" spc="-1" strike="noStrike" u="sng">
                <a:solidFill>
                  <a:srgbClr val="c00000"/>
                </a:solidFill>
                <a:uFillTx/>
                <a:latin typeface="Times New Roman"/>
              </a:rPr>
              <a:t>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8" name="image11.png" descr=""/>
          <p:cNvPicPr/>
          <p:nvPr/>
        </p:nvPicPr>
        <p:blipFill>
          <a:blip r:embed="rId1"/>
          <a:stretch/>
        </p:blipFill>
        <p:spPr>
          <a:xfrm>
            <a:off x="357480" y="48492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8" descr=""/>
          <p:cNvPicPr/>
          <p:nvPr/>
        </p:nvPicPr>
        <p:blipFill>
          <a:blip r:embed="rId2"/>
          <a:stretch/>
        </p:blipFill>
        <p:spPr>
          <a:xfrm>
            <a:off x="10595160" y="40932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451880"/>
            <a:ext cx="10713960" cy="463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</a:rPr>
              <a:t>Body posture is the position in which we sit or stand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</a:rPr>
              <a:t>Correct posture keeps the spine healthy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</a:rPr>
              <a:t>Desk workers sit for long hours daily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</a:rPr>
              <a:t>Wrong sitting posture causes: ( Back pain, Neck pain, Shoulder strain)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</a:rPr>
              <a:t>Most people do not realise when their posture is wrong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</a:rPr>
              <a:t>Technology can help by detecting posture automatically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</a:rPr>
              <a:t>Our project monitors posture and gives feedback using vibration alerts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ftr" idx="3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CE8236F-185F-4FF3-80DB-261F41ED768E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315974E0-20A2-4A1E-9C5A-1CA43270EED5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59600" y="374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LITERATURE SURVEY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24" name="Table 10"/>
          <p:cNvGraphicFramePr/>
          <p:nvPr/>
        </p:nvGraphicFramePr>
        <p:xfrm>
          <a:off x="279000" y="1377000"/>
          <a:ext cx="11876760" cy="5302800"/>
        </p:xfrm>
        <a:graphic>
          <a:graphicData uri="http://schemas.openxmlformats.org/drawingml/2006/table">
            <a:tbl>
              <a:tblPr/>
              <a:tblGrid>
                <a:gridCol w="516600"/>
                <a:gridCol w="2593800"/>
                <a:gridCol w="2673360"/>
                <a:gridCol w="4979160"/>
                <a:gridCol w="1113120"/>
              </a:tblGrid>
              <a:tr h="576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SL.NO</a:t>
                      </a:r>
                      <a:endParaRPr b="0" lang="en-IN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Paper Title</a:t>
                      </a:r>
                      <a:endParaRPr b="0" lang="en-IN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Author Names</a:t>
                      </a:r>
                      <a:endParaRPr b="0" lang="en-IN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Proposed Work</a:t>
                      </a:r>
                      <a:endParaRPr b="0" lang="en-IN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Published Year</a:t>
                      </a:r>
                      <a:endParaRPr b="0" lang="en-IN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3762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/>
                        </a:rPr>
                        <a:t>1</a:t>
                      </a:r>
                      <a:endParaRPr b="0" lang="en-IN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UWB-PostureGuard: A Privacy-Preserving RF Sensing System for Continuous Ergonomic Sitting Posture Monitoring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Haotang Li, Zhenyu Qi, Sen He, Kebin Peng, Sheng Tan, Yili Ren, Tomas Cerny, Jiyue Zhao, Zi Wang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Proposes a contactless, UWB (ultra-wideband) RF sensing system that continuously monitors sitting posture with </a:t>
                      </a: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99.11% accuracy</a:t>
                      </a: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It preserves user privacy (no camera/wearables) and is robust to variations like clothing, furniture, and environment.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IN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IN" sz="1700" spc="-1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/>
                        </a:rPr>
                        <a:t>2025</a:t>
                      </a:r>
                      <a:endParaRPr b="0" lang="en-IN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561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/>
                        </a:rPr>
                        <a:t>2</a:t>
                      </a:r>
                      <a:endParaRPr b="0" lang="en-IN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Sitting Posture Recognition and Feedback: A Literature Review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Christian Krauter, Katrin Angerbauer, Aimée Sousa Calepso, Alexander Achberger, Sven Mayer, Michael Sedlmair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Comprehensive literature review (N=223) across engineering, electronics, medical sciences; highlights use of pressure-sensing hardware and visual feedback; discusses factors such as environment, cost, privacy, portability, accuracy, user capability and long-term effects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700" spc="-1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/>
                          <a:ea typeface="Times New Roman"/>
                        </a:rPr>
                        <a:t>2024</a:t>
                      </a:r>
                      <a:endParaRPr b="0" lang="en-IN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2031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/>
                        </a:rPr>
                        <a:t>3</a:t>
                      </a:r>
                      <a:endParaRPr b="0" lang="en-IN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Sensor-Based Wearable Systems for Monitoring Human Motion and Posture: A Review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Xinxin Huang, Yunan Xue, Shuyun Ren, Fei Wang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Systematic review of wearable posture-monitoring systems; analyses sensor types (IMU, flex, pressure), placement strategies, system design aspects, and emphasises future needs like accuracy, data security, comfort, and durability.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IN" sz="1700" spc="-1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Times New Roman"/>
                        </a:rPr>
                        <a:t>2024</a:t>
                      </a:r>
                      <a:endParaRPr b="0" lang="en-IN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25" name="image11.png" descr=""/>
          <p:cNvPicPr/>
          <p:nvPr/>
        </p:nvPicPr>
        <p:blipFill>
          <a:blip r:embed="rId1"/>
          <a:stretch/>
        </p:blipFill>
        <p:spPr>
          <a:xfrm>
            <a:off x="279000" y="5148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2" descr=""/>
          <p:cNvPicPr/>
          <p:nvPr/>
        </p:nvPicPr>
        <p:blipFill>
          <a:blip r:embed="rId2"/>
          <a:stretch/>
        </p:blipFill>
        <p:spPr>
          <a:xfrm>
            <a:off x="10969560" y="-540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27" name="PlaceHolder 3"/>
          <p:cNvSpPr>
            <a:spLocks noGrp="1"/>
          </p:cNvSpPr>
          <p:nvPr>
            <p:ph type="sldNum" idx="40"/>
          </p:nvPr>
        </p:nvSpPr>
        <p:spPr>
          <a:xfrm>
            <a:off x="8610480" y="64929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DB85B0-273B-44AD-A9BF-B4DE600D4221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6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ftr" idx="41"/>
          </p:nvPr>
        </p:nvSpPr>
        <p:spPr>
          <a:xfrm>
            <a:off x="4038480" y="65390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dt" idx="42"/>
          </p:nvPr>
        </p:nvSpPr>
        <p:spPr>
          <a:xfrm>
            <a:off x="838080" y="64929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19AFD5F-4420-4EF7-95F7-A235A2B3AE1F}" type="datetime1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13/09/2026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31" name="Table 5"/>
          <p:cNvGraphicFramePr/>
          <p:nvPr/>
        </p:nvGraphicFramePr>
        <p:xfrm>
          <a:off x="135000" y="1639080"/>
          <a:ext cx="11921400" cy="4206600"/>
        </p:xfrm>
        <a:graphic>
          <a:graphicData uri="http://schemas.openxmlformats.org/drawingml/2006/table">
            <a:tbl>
              <a:tblPr/>
              <a:tblGrid>
                <a:gridCol w="848880"/>
                <a:gridCol w="2713320"/>
                <a:gridCol w="2325600"/>
                <a:gridCol w="4572000"/>
                <a:gridCol w="1461600"/>
              </a:tblGrid>
              <a:tr h="657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SL.NO</a:t>
                      </a:r>
                      <a:endParaRPr b="0" lang="en-IN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PAPER TITLE</a:t>
                      </a:r>
                      <a:endParaRPr b="0" lang="en-IN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AUTHOR NAMES </a:t>
                      </a:r>
                      <a:endParaRPr b="0" lang="en-IN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PROPOSED WORK </a:t>
                      </a:r>
                      <a:endParaRPr b="0" lang="en-IN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PUBLISHED YEAR</a:t>
                      </a:r>
                      <a:endParaRPr b="0" lang="en-IN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5098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4.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 Smart System for Sitting Posture Detection Based on Force Sensors and Mobile Application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Slavomir Matuska, Martin Paralic, Robert Hudec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Presents a smart chair with six flexible force sensors connected to an Arduino-based IoT node; detects incorrect sitting positions and sends feedback to a mobile app, with posture data stored in a private cloud and visualized via mobile UI.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2022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519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5.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Human Posture Detection Method Based on Wearable Devices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Xiaoou Li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Yangang Li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Yuanming Wu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Jiahui Xu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Zhitao Xiao</a:t>
                      </a: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en-IN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Proposes a multimodal wearable posture detection method using upper-limb sEMG, lower-limb inertial and plantar pressure sensors; features are extracted via wavelet transforms and classified using optimized SVM with ~90% accuracy.</a:t>
                      </a:r>
                      <a:endParaRPr b="0" lang="en-IN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2021</a:t>
                      </a:r>
                      <a:endParaRPr b="0" lang="en-IN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2" name="Title 1"/>
          <p:cNvSpPr/>
          <p:nvPr/>
        </p:nvSpPr>
        <p:spPr>
          <a:xfrm>
            <a:off x="615600" y="1364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b="1" lang="en-US" sz="4400" spc="-1" strike="noStrike" u="sng">
                <a:solidFill>
                  <a:srgbClr val="c00000"/>
                </a:solidFill>
                <a:uFillTx/>
                <a:latin typeface="Times New Roman"/>
              </a:rPr>
              <a:t>LITERATURE SURVEY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image11.png" descr=""/>
          <p:cNvPicPr/>
          <p:nvPr/>
        </p:nvPicPr>
        <p:blipFill>
          <a:blip r:embed="rId1"/>
          <a:stretch/>
        </p:blipFill>
        <p:spPr>
          <a:xfrm>
            <a:off x="135000" y="3135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8" descr=""/>
          <p:cNvPicPr/>
          <p:nvPr/>
        </p:nvPicPr>
        <p:blipFill>
          <a:blip r:embed="rId2"/>
          <a:stretch/>
        </p:blipFill>
        <p:spPr>
          <a:xfrm>
            <a:off x="10910160" y="19512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93B732A-D0F5-4A09-9A21-9E98024555F2}" type="slidenum">
              <a:t>7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fld id="{852B83EF-1E74-46CE-A24A-A4C2319A915E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O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B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J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E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C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T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I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V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E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S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6" name="image11.png" descr=""/>
          <p:cNvPicPr/>
          <p:nvPr/>
        </p:nvPicPr>
        <p:blipFill>
          <a:blip r:embed="rId1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37" name="Picture 8" descr=""/>
          <p:cNvPicPr/>
          <p:nvPr/>
        </p:nvPicPr>
        <p:blipFill>
          <a:blip r:embed="rId2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1166040" y="1690560"/>
            <a:ext cx="10515240" cy="460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</a:rPr>
              <a:t>To design a posture monitoring system for desk workers.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</a:rPr>
              <a:t>To measure body angle using the MPU6050 sensor.</a:t>
            </a:r>
            <a:r>
              <a:rPr b="0" lang="en-IN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 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</a:rPr>
              <a:t>To process sensor data using ESP32.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</a:rPr>
              <a:t>To detect wrong posture accurately.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</a:rPr>
              <a:t>To alert the user using vibration feedback.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</a:rPr>
              <a:t>To avoid false alerts during temporary movements.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</a:rPr>
              <a:t>To implement a </a:t>
            </a:r>
            <a:r>
              <a:rPr b="1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</a:rPr>
              <a:t>40-second delay</a:t>
            </a: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</a:rPr>
              <a:t> before triggering vibration.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</a:rPr>
              <a:t>To improve health and working comfort.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ftr" idx="44"/>
          </p:nvPr>
        </p:nvSpPr>
        <p:spPr>
          <a:xfrm>
            <a:off x="3960000" y="64004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4653319-C3FB-4D9A-88D0-50BA97AE8195}" type="slidenum">
              <a:t>8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E69B7978-A206-4FE8-BD7F-5D1635DDC768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C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O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M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P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O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N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E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N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TS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1" name="image11.png" descr=""/>
          <p:cNvPicPr/>
          <p:nvPr/>
        </p:nvPicPr>
        <p:blipFill>
          <a:blip r:embed="rId1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42" name="Picture 8" descr=""/>
          <p:cNvPicPr/>
          <p:nvPr/>
        </p:nvPicPr>
        <p:blipFill>
          <a:blip r:embed="rId2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43" name="PlaceHolder 2"/>
          <p:cNvSpPr>
            <a:spLocks noGrp="1"/>
          </p:cNvSpPr>
          <p:nvPr>
            <p:ph type="ftr" idx="45"/>
          </p:nvPr>
        </p:nvSpPr>
        <p:spPr>
          <a:xfrm>
            <a:off x="4038480" y="64101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1080000" y="2086200"/>
            <a:ext cx="9720000" cy="36738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3EE254C-F607-44F4-B83C-587B5EE7F706}" type="slidenum">
              <a:t>9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F99CD97A-9609-4DFE-AEA0-4BBECB1C1C73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IN" sz="4000" spc="-1" strike="noStrike" u="sng">
                <a:solidFill>
                  <a:srgbClr val="c00000"/>
                </a:solidFill>
                <a:uFillTx/>
                <a:latin typeface="Times New Roman"/>
                <a:ea typeface="Calibri"/>
              </a:rPr>
              <a:t>BLOCK DIAGRAM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Rectangle 13"/>
          <p:cNvSpPr/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Rectangle 18"/>
          <p:cNvSpPr/>
          <p:nvPr/>
        </p:nvSpPr>
        <p:spPr>
          <a:xfrm>
            <a:off x="6003720" y="63720"/>
            <a:ext cx="183960" cy="7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br>
              <a:rPr sz="800"/>
            </a:br>
            <a:endParaRPr b="0" lang="en-IN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21"/>
          <p:cNvSpPr/>
          <p:nvPr/>
        </p:nvSpPr>
        <p:spPr>
          <a:xfrm>
            <a:off x="0" y="45720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Rectangle 23"/>
          <p:cNvSpPr/>
          <p:nvPr/>
        </p:nvSpPr>
        <p:spPr>
          <a:xfrm>
            <a:off x="6003720" y="507240"/>
            <a:ext cx="183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br>
              <a:rPr sz="1800"/>
            </a:b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image11.png" descr=""/>
          <p:cNvPicPr/>
          <p:nvPr/>
        </p:nvPicPr>
        <p:blipFill>
          <a:blip r:embed="rId1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22" descr=""/>
          <p:cNvPicPr/>
          <p:nvPr/>
        </p:nvPicPr>
        <p:blipFill>
          <a:blip r:embed="rId2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52" name="PlaceHolder 2"/>
          <p:cNvSpPr>
            <a:spLocks noGrp="1"/>
          </p:cNvSpPr>
          <p:nvPr>
            <p:ph type="ftr" idx="46"/>
          </p:nvPr>
        </p:nvSpPr>
        <p:spPr>
          <a:xfrm>
            <a:off x="4021920" y="641520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3" name="Picture 6" descr=""/>
          <p:cNvPicPr/>
          <p:nvPr/>
        </p:nvPicPr>
        <p:blipFill>
          <a:blip r:embed="rId3"/>
          <a:stretch/>
        </p:blipFill>
        <p:spPr>
          <a:xfrm>
            <a:off x="2365560" y="1371600"/>
            <a:ext cx="7891200" cy="4974840"/>
          </a:xfrm>
          <a:prstGeom prst="rect">
            <a:avLst/>
          </a:prstGeom>
          <a:ln w="0">
            <a:noFill/>
          </a:ln>
        </p:spPr>
      </p:pic>
      <p:cxnSp>
        <p:nvCxnSpPr>
          <p:cNvPr id="154" name="Connector: Elbow 10"/>
          <p:cNvCxnSpPr/>
          <p:nvPr/>
        </p:nvCxnSpPr>
        <p:spPr>
          <a:xfrm rot="5400000">
            <a:off x="6569640" y="5168160"/>
            <a:ext cx="467640" cy="308520"/>
          </a:xfrm>
          <a:prstGeom prst="bentConnector3">
            <a:avLst>
              <a:gd name="adj1" fmla="val 50000"/>
            </a:avLst>
          </a:prstGeom>
          <a:ln>
            <a:solidFill>
              <a:srgbClr val="4472c4"/>
            </a:solidFill>
            <a:tailEnd len="med" type="triangle" w="med"/>
          </a:ln>
        </p:spPr>
      </p:cxnSp>
      <p:sp>
        <p:nvSpPr>
          <p:cNvPr id="155" name="Rectangle 12"/>
          <p:cNvSpPr/>
          <p:nvPr/>
        </p:nvSpPr>
        <p:spPr>
          <a:xfrm>
            <a:off x="7802280" y="4830480"/>
            <a:ext cx="188640" cy="79200"/>
          </a:xfrm>
          <a:prstGeom prst="rect">
            <a:avLst/>
          </a:prstGeom>
          <a:solidFill>
            <a:schemeClr val="bg1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4560" bIns="345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7665480" y="4540680"/>
            <a:ext cx="650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YES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13"/>
          <p:cNvSpPr/>
          <p:nvPr/>
        </p:nvSpPr>
        <p:spPr>
          <a:xfrm>
            <a:off x="6531840" y="5036400"/>
            <a:ext cx="542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NO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A686178-8A82-429D-9EA3-14A819C461B2}" type="slidenum">
              <a:t>10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8567198-7348-4673-9C6D-529C95B2E261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IN" sz="4000" spc="-1" strike="noStrike" u="sng">
                <a:solidFill>
                  <a:srgbClr val="c00000"/>
                </a:solidFill>
                <a:uFillTx/>
                <a:latin typeface="Times New Roman"/>
                <a:ea typeface="Calibri"/>
              </a:rPr>
              <a:t>CIRCUIT DIAGRAM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Rectangle 13"/>
          <p:cNvSpPr/>
          <p:nvPr/>
        </p:nvSpPr>
        <p:spPr>
          <a:xfrm>
            <a:off x="0" y="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" name="Rectangle 18"/>
          <p:cNvSpPr/>
          <p:nvPr/>
        </p:nvSpPr>
        <p:spPr>
          <a:xfrm>
            <a:off x="6003720" y="63720"/>
            <a:ext cx="183960" cy="7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br>
              <a:rPr sz="800"/>
            </a:br>
            <a:endParaRPr b="0" lang="en-IN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ectangle 21"/>
          <p:cNvSpPr/>
          <p:nvPr/>
        </p:nvSpPr>
        <p:spPr>
          <a:xfrm>
            <a:off x="0" y="457200"/>
            <a:ext cx="12191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</a:pP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Rectangle 23"/>
          <p:cNvSpPr/>
          <p:nvPr/>
        </p:nvSpPr>
        <p:spPr>
          <a:xfrm>
            <a:off x="6003720" y="507240"/>
            <a:ext cx="183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br>
              <a:rPr sz="1800"/>
            </a:b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image11.png" descr=""/>
          <p:cNvPicPr/>
          <p:nvPr/>
        </p:nvPicPr>
        <p:blipFill>
          <a:blip r:embed="rId1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64" name="Picture 22" descr=""/>
          <p:cNvPicPr/>
          <p:nvPr/>
        </p:nvPicPr>
        <p:blipFill>
          <a:blip r:embed="rId2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65" name="TextBox 50"/>
          <p:cNvSpPr/>
          <p:nvPr/>
        </p:nvSpPr>
        <p:spPr>
          <a:xfrm>
            <a:off x="3790800" y="5833080"/>
            <a:ext cx="52056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400" spc="-1" strike="noStrike">
                <a:solidFill>
                  <a:schemeClr val="dk1"/>
                </a:solidFill>
                <a:latin typeface="Times New Roman"/>
              </a:rPr>
              <a:t>Fig.1 : Block Diagram of </a:t>
            </a: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Body Posture Monitor For Desk Workers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IN" sz="1400" spc="-1" strike="noStrike">
                <a:solidFill>
                  <a:schemeClr val="dk1"/>
                </a:solidFill>
                <a:latin typeface="Times New Roman"/>
              </a:rPr>
              <a:t>  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ftr" idx="47"/>
          </p:nvPr>
        </p:nvSpPr>
        <p:spPr>
          <a:xfrm>
            <a:off x="4038480" y="63993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7" name="Picture 6" descr=""/>
          <p:cNvPicPr/>
          <p:nvPr/>
        </p:nvPicPr>
        <p:blipFill>
          <a:blip r:embed="rId3"/>
          <a:stretch/>
        </p:blipFill>
        <p:spPr>
          <a:xfrm>
            <a:off x="600840" y="1506600"/>
            <a:ext cx="10838880" cy="47588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3CA95D4-49A3-4034-BC21-CE68A897A352}" type="slidenum">
              <a:t>11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511C72DE-809F-4D9A-9D7C-B23AA80D5F9A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517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WORKING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9" name="image11.png" descr=""/>
          <p:cNvPicPr/>
          <p:nvPr/>
        </p:nvPicPr>
        <p:blipFill>
          <a:blip r:embed="rId1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8" descr=""/>
          <p:cNvPicPr/>
          <p:nvPr/>
        </p:nvPicPr>
        <p:blipFill>
          <a:blip r:embed="rId2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71" name="PlaceHolder 2"/>
          <p:cNvSpPr>
            <a:spLocks noGrp="1"/>
          </p:cNvSpPr>
          <p:nvPr>
            <p:ph type="ftr" idx="4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1514160" y="1736640"/>
            <a:ext cx="10515240" cy="443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The MPU6050 sensor continuously measures body angle.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ESP32 reads angle data from MPU6050.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The angle is compared with a preset normal posture value.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If posture is correct → System continues monitoring.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If posture is wrong, → Timer starts counting.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If posture is corrected within 40 seconds, → Timer resets.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If posture remains wrong for more than 40 seconds →</a:t>
            </a:r>
            <a:br>
              <a:rPr sz="2000"/>
            </a:b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➤ Vibration motor is activated.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Vibration alert reminds user to correct posture.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Once posture is corrected → Vibration stops.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1CAFA1E-BC3A-4881-B6ED-53AD4EB341DB}" type="slidenum">
              <a:t>12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2245228-DC59-4855-B5FC-AF0A45BBA143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3848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OUTCOMES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4" name="image11.png" descr=""/>
          <p:cNvPicPr/>
          <p:nvPr/>
        </p:nvPicPr>
        <p:blipFill>
          <a:blip r:embed="rId1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75" name="Picture 8" descr=""/>
          <p:cNvPicPr/>
          <p:nvPr/>
        </p:nvPicPr>
        <p:blipFill>
          <a:blip r:embed="rId2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2"/>
          <p:cNvSpPr>
            <a:spLocks noGrp="1"/>
          </p:cNvSpPr>
          <p:nvPr>
            <p:ph type="ftr" idx="49"/>
          </p:nvPr>
        </p:nvSpPr>
        <p:spPr>
          <a:xfrm>
            <a:off x="4038480" y="639504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TextBox 12"/>
          <p:cNvSpPr/>
          <p:nvPr/>
        </p:nvSpPr>
        <p:spPr>
          <a:xfrm>
            <a:off x="1341720" y="1958040"/>
            <a:ext cx="920340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The system accurately detects the user's body posture.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It continuously monitors posture in real time.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The vibration alert effectively notifies the user when posture is incorrect.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False alerts are reduced by using a delay timer mechanism.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The system helps increase awareness about correct posture habits.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Users receive a physical reminder through vibration to correct their posture.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The system is portable and suitable for daily use.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The project helps in reducing long-term back and neck problems.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E73FC62-6870-45D0-8370-20211C22EC51}" type="slidenum">
              <a:t>13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AD9784C-856A-4352-9B6D-41AA22994C07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848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ADVANTAGES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9" name="image11.png" descr=""/>
          <p:cNvPicPr/>
          <p:nvPr/>
        </p:nvPicPr>
        <p:blipFill>
          <a:blip r:embed="rId1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80" name="Picture 8" descr=""/>
          <p:cNvPicPr/>
          <p:nvPr/>
        </p:nvPicPr>
        <p:blipFill>
          <a:blip r:embed="rId2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1073520" y="1710360"/>
            <a:ext cx="10280160" cy="42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80"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IN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 </a:t>
            </a: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The system helps users maintain correct sitting posture.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It provides real-time feedback through vibration alerts.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The delay timer prevents unnecessary or false alerts.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The device is simple and easy to operate.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The system is affordable and cost-effective.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 </a:t>
            </a: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People of all age groups can use it.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The device improves long-term spinal health.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6B04E7C-7D59-4894-AC8B-1F06B6A8C95C}" type="slidenum">
              <a:t>14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626E6C3A-410C-4059-ADAD-C56E085027A4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APPLICATIONS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4" name="image11.png" descr=""/>
          <p:cNvPicPr/>
          <p:nvPr/>
        </p:nvPicPr>
        <p:blipFill>
          <a:blip r:embed="rId1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85" name="Picture 8" descr=""/>
          <p:cNvPicPr/>
          <p:nvPr/>
        </p:nvPicPr>
        <p:blipFill>
          <a:blip r:embed="rId2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112572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The system can be used in corporate offices to promote healthy working posture.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It is suitable for educational institutions to improve students’ and teachers sitting habits.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The device is useful in call centers and BPO industries.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It can be implemented in co-working spaces.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It is useful for people with back or neck discomfort.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The system can be used in rehabilitation and physiotherapy centers.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It is suitable for training programs focused on workplace safety.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203864"/>
              </a:buClr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</a:rPr>
              <a:t>The device can be used to monitor posture during long reading or writing sessions.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ftr" idx="51"/>
          </p:nvPr>
        </p:nvSpPr>
        <p:spPr>
          <a:xfrm>
            <a:off x="4038480" y="636120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E34E04-9653-435C-9FD7-4B9A57D5D3E3}" type="slidenum">
              <a:t>15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29B31FB-D388-42D5-B440-11AE7580642C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IN" sz="4000" spc="-1" strike="noStrike" u="sng">
                <a:solidFill>
                  <a:srgbClr val="c00000"/>
                </a:solidFill>
                <a:uFillTx/>
                <a:latin typeface="Times New Roman"/>
              </a:rPr>
              <a:t>REFERENCE</a:t>
            </a:r>
            <a:r>
              <a:rPr b="1" lang="en-US" sz="4000" spc="-1" strike="noStrike" u="sng">
                <a:solidFill>
                  <a:srgbClr val="c00000"/>
                </a:solidFill>
                <a:uFillTx/>
                <a:latin typeface="Times New Roman"/>
              </a:rPr>
              <a:t>S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9" name="image11.png" descr=""/>
          <p:cNvPicPr/>
          <p:nvPr/>
        </p:nvPicPr>
        <p:blipFill>
          <a:blip r:embed="rId1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90" name="Picture 8" descr=""/>
          <p:cNvPicPr/>
          <p:nvPr/>
        </p:nvPicPr>
        <p:blipFill>
          <a:blip r:embed="rId2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586440" y="1580400"/>
            <a:ext cx="11181240" cy="446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IN" sz="18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Haotang Li, Zhenyu Qi, Sen He, Kebin Peng, Sheng Tan, Yili Ren, Tomas Cerny, Jiyue Zhao, Zi Wang, “UWB-PostureGuard: A Privacy-Preserving RF Sensing System for Continuous Ergonomic Sitting Posture Monitoring,” 2025.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IN" sz="18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Christian Krauter, Katrin Angerbauer, Aimée Sousa Calepso, Alexander     Achberger, Sven Mayer, Michael Sedlmair, “ Sitting posture Recognition and Feedback: A Literature Review.”:2024.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Xiaoou Li, Yangang Li, Yuanming Wu, Jiahui Xu, Zhitao Xiao,” Human Posture Detection Method Based on Wearable Devices”:2021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203864"/>
              </a:buClr>
              <a:buFont typeface="Wingdings" charset="2"/>
              <a:buChar char=""/>
            </a:pPr>
            <a:r>
              <a:rPr b="0" lang="en-IN" sz="18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Slavomir Matuska, Martin Paralič, Robert Hudec, “</a:t>
            </a:r>
            <a:r>
              <a:rPr b="0" lang="en-US" sz="1800" spc="-1" strike="noStrike">
                <a:solidFill>
                  <a:schemeClr val="accent1">
                    <a:lumMod val="50000"/>
                  </a:schemeClr>
                </a:solidFill>
                <a:latin typeface="Arial"/>
              </a:rPr>
              <a:t>A Smart System for Sitting Posture Detection Based on Force Sensors and Mobile Application”, 2022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8E8C7F9-7D80-4888-9AE0-A3A6611CFFBF}" type="slidenum">
              <a:t>16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DB99A477-A2D9-437F-AFF4-88496D438816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IN" sz="4000" spc="-1" strike="noStrike" u="sng">
                <a:solidFill>
                  <a:srgbClr val="c00000"/>
                </a:solidFill>
                <a:uFillTx/>
                <a:latin typeface="Times New Roman"/>
              </a:rPr>
              <a:t>ACKNOWLEDGEMENT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0092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200" spc="-1" strike="noStrike">
                <a:solidFill>
                  <a:srgbClr val="002060"/>
                </a:solidFill>
                <a:latin typeface="Times New Roman"/>
              </a:rPr>
              <a:t>  </a:t>
            </a:r>
            <a:r>
              <a:rPr b="0" lang="en-US" sz="2200" spc="-1" strike="noStrike">
                <a:solidFill>
                  <a:srgbClr val="002060"/>
                </a:solidFill>
                <a:latin typeface="Times New Roman"/>
              </a:rPr>
              <a:t>We would like to thank our Honourable Principal, </a:t>
            </a:r>
            <a:r>
              <a:rPr b="1" lang="en-US" sz="2200" spc="-1" strike="noStrike">
                <a:solidFill>
                  <a:srgbClr val="c00000"/>
                </a:solidFill>
                <a:latin typeface="Times New Roman"/>
              </a:rPr>
              <a:t>Dr V. A. Kulkarni </a:t>
            </a:r>
            <a:r>
              <a:rPr b="0" lang="en-IN" sz="2200" spc="-1" strike="noStrike">
                <a:solidFill>
                  <a:srgbClr val="002060"/>
                </a:solidFill>
                <a:latin typeface="Times New Roman"/>
              </a:rPr>
              <a:t>sir for their fabulous support.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US" sz="2200" spc="-1" strike="noStrike">
                <a:solidFill>
                  <a:srgbClr val="002060"/>
                </a:solidFill>
                <a:latin typeface="Times New Roman"/>
              </a:rPr>
              <a:t> </a:t>
            </a:r>
            <a:r>
              <a:rPr b="0" lang="en-IN" sz="2200" spc="-1" strike="noStrike">
                <a:solidFill>
                  <a:srgbClr val="002060"/>
                </a:solidFill>
                <a:latin typeface="Times New Roman"/>
              </a:rPr>
              <a:t>We would like to </a:t>
            </a:r>
            <a:r>
              <a:rPr b="0" lang="en-US" sz="2200" spc="-1" strike="noStrike">
                <a:solidFill>
                  <a:srgbClr val="002060"/>
                </a:solidFill>
                <a:latin typeface="Times New Roman"/>
              </a:rPr>
              <a:t>t</a:t>
            </a:r>
            <a:r>
              <a:rPr b="0" lang="en-IN" sz="2200" spc="-1" strike="noStrike">
                <a:solidFill>
                  <a:srgbClr val="002060"/>
                </a:solidFill>
                <a:latin typeface="Times New Roman"/>
              </a:rPr>
              <a:t>hank</a:t>
            </a:r>
            <a:r>
              <a:rPr b="0" lang="en-IN" sz="2200" spc="-1" strike="noStrike">
                <a:solidFill>
                  <a:srgbClr val="c00000"/>
                </a:solidFill>
                <a:latin typeface="Times New Roman"/>
              </a:rPr>
              <a:t> </a:t>
            </a:r>
            <a:r>
              <a:rPr b="1" lang="en-US" sz="2200" spc="-1" strike="noStrike">
                <a:solidFill>
                  <a:srgbClr val="c00000"/>
                </a:solidFill>
                <a:latin typeface="Calibri"/>
              </a:rPr>
              <a:t>Dr Nagaraj Bhat</a:t>
            </a:r>
            <a:r>
              <a:rPr b="1" lang="en-IN" sz="2200" spc="-1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0" lang="en-US" sz="2200" spc="-1" strike="noStrike">
                <a:solidFill>
                  <a:srgbClr val="002060"/>
                </a:solidFill>
                <a:latin typeface="Times New Roman"/>
              </a:rPr>
              <a:t>s</a:t>
            </a:r>
            <a:r>
              <a:rPr b="0" lang="en-IN" sz="2200" spc="-1" strike="noStrike">
                <a:solidFill>
                  <a:srgbClr val="002060"/>
                </a:solidFill>
                <a:latin typeface="Times New Roman"/>
              </a:rPr>
              <a:t>ir, for their fabulous support.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206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rgbClr val="002060"/>
                </a:solidFill>
                <a:latin typeface="Times New Roman"/>
              </a:rPr>
              <a:t>We would like to express </a:t>
            </a:r>
            <a:r>
              <a:rPr b="0" lang="en-US" sz="2200" spc="-1" strike="noStrike">
                <a:solidFill>
                  <a:srgbClr val="002060"/>
                </a:solidFill>
                <a:latin typeface="Times New Roman"/>
              </a:rPr>
              <a:t>our</a:t>
            </a:r>
            <a:r>
              <a:rPr b="0" lang="en-IN" sz="2200" spc="-1" strike="noStrike">
                <a:solidFill>
                  <a:srgbClr val="002060"/>
                </a:solidFill>
                <a:latin typeface="Times New Roman"/>
              </a:rPr>
              <a:t> special thank</a:t>
            </a:r>
            <a:r>
              <a:rPr b="0" lang="en-US" sz="2200" spc="-1" strike="noStrike">
                <a:solidFill>
                  <a:srgbClr val="002060"/>
                </a:solidFill>
                <a:latin typeface="Times New Roman"/>
              </a:rPr>
              <a:t>s</a:t>
            </a:r>
            <a:r>
              <a:rPr b="0" lang="en-IN" sz="2200" spc="-1" strike="noStrike">
                <a:solidFill>
                  <a:srgbClr val="002060"/>
                </a:solidFill>
                <a:latin typeface="Times New Roman"/>
              </a:rPr>
              <a:t> to our guide, </a:t>
            </a:r>
            <a:r>
              <a:rPr b="1" lang="en-US" sz="2200" spc="-1" strike="noStrike">
                <a:solidFill>
                  <a:srgbClr val="c00000"/>
                </a:solidFill>
                <a:latin typeface="Calibri"/>
              </a:rPr>
              <a:t>Dr Nagaraj Bhat</a:t>
            </a:r>
            <a:r>
              <a:rPr b="1" lang="en-IN" sz="2200" spc="-1" strike="noStrike">
                <a:solidFill>
                  <a:srgbClr val="c00000"/>
                </a:solidFill>
                <a:latin typeface="Calibri"/>
              </a:rPr>
              <a:t> </a:t>
            </a:r>
            <a:r>
              <a:rPr b="0" lang="en-IN" sz="2200" spc="-1" strike="noStrike">
                <a:solidFill>
                  <a:srgbClr val="002060"/>
                </a:solidFill>
                <a:latin typeface="Times New Roman"/>
              </a:rPr>
              <a:t>for their guidance in choosing this </a:t>
            </a:r>
            <a:r>
              <a:rPr b="0" lang="en-IN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project, “</a:t>
            </a:r>
            <a:r>
              <a:rPr b="0" lang="en-US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Design and Implementation of Body Posture Monitor For Desk Workers</a:t>
            </a:r>
            <a:r>
              <a:rPr b="0" lang="en-IN" sz="20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”.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5" name="image11.png" descr=""/>
          <p:cNvPicPr/>
          <p:nvPr/>
        </p:nvPicPr>
        <p:blipFill>
          <a:blip r:embed="rId1"/>
          <a:stretch/>
        </p:blipFill>
        <p:spPr>
          <a:xfrm>
            <a:off x="759600" y="444960"/>
            <a:ext cx="961200" cy="971280"/>
          </a:xfrm>
          <a:prstGeom prst="rect">
            <a:avLst/>
          </a:prstGeom>
          <a:ln w="0">
            <a:noFill/>
          </a:ln>
        </p:spPr>
      </p:pic>
      <p:pic>
        <p:nvPicPr>
          <p:cNvPr id="196" name="Picture 8" descr=""/>
          <p:cNvPicPr/>
          <p:nvPr/>
        </p:nvPicPr>
        <p:blipFill>
          <a:blip r:embed="rId2"/>
          <a:stretch/>
        </p:blipFill>
        <p:spPr>
          <a:xfrm>
            <a:off x="10182240" y="373680"/>
            <a:ext cx="1034280" cy="1042200"/>
          </a:xfrm>
          <a:prstGeom prst="rect">
            <a:avLst/>
          </a:prstGeom>
          <a:ln w="0">
            <a:noFill/>
          </a:ln>
        </p:spPr>
      </p:pic>
      <p:sp>
        <p:nvSpPr>
          <p:cNvPr id="197" name="PlaceHolder 3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D8E61CA-5BDC-4948-B1B0-D610CFDE1D23}" type="slidenum">
              <a:t>17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E109BE5-958D-4CCE-94A8-3AB4CECF701C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5400" spc="-1" strike="noStrike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THANK YOU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ftr" idx="5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chemeClr val="lt2">
                    <a:lumMod val="50000"/>
                  </a:schemeClr>
                </a:solidFill>
                <a:latin typeface="Times New Roman"/>
              </a:rPr>
              <a:t>Body Posture Monitor For Desk Workers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 defTabSz="914400">
              <a:lnSpc>
                <a:spcPct val="100000"/>
              </a:lnSpc>
              <a:buNone/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F8DF7B6-988F-4C86-A0A6-34B0F0E66EB5}" type="slidenum">
              <a:t>18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fld id="{D8745F32-4879-4DCF-99F3-881D83174404}" type="datetime1">
              <a:rPr lang="en-IN"/>
              <a:t>13/09/2026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3393</TotalTime>
  <Application>LibreOffice/24.2.7.2$Linux_X86_64 LibreOffice_project/420$Build-2</Application>
  <AppVersion>15.0000</AppVersion>
  <Words>1431</Words>
  <Paragraphs>240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2024-06-10T15:56:00Z</dcterms:created>
  <dc:creator>Vinod Jaladi</dc:creator>
  <dc:description/>
  <dc:language>en-IN</dc:language>
  <cp:lastModifiedBy/>
  <dcterms:modified xsi:type="dcterms:W3CDTF">2026-09-13T13:11:19Z</dcterms:modified>
  <cp:revision>122</cp:revision>
  <dc:subject/>
  <dc:title>A  Presentation entitled Chemical Analysis and functional Verifier of Apple/ Sapota fruit Sweetness Detector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28937AB8FD334BEF8AF452E63AD80798_13</vt:lpwstr>
  </property>
  <property fmtid="{D5CDD505-2E9C-101B-9397-08002B2CF9AE}" pid="3" name="KSOProductBuildVer">
    <vt:lpwstr>1033-12.2.0.16909</vt:lpwstr>
  </property>
  <property fmtid="{D5CDD505-2E9C-101B-9397-08002B2CF9AE}" pid="4" name="Notes">
    <vt:i4>2</vt:i4>
  </property>
  <property fmtid="{D5CDD505-2E9C-101B-9397-08002B2CF9AE}" pid="5" name="PresentationFormat">
    <vt:lpwstr>Widescreen</vt:lpwstr>
  </property>
  <property fmtid="{D5CDD505-2E9C-101B-9397-08002B2CF9AE}" pid="6" name="Slides">
    <vt:i4>18</vt:i4>
  </property>
</Properties>
</file>